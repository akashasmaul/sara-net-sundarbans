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sldIdLst>
    <p:sldId id="256" r:id="rId2"/>
    <p:sldId id="284" r:id="rId3"/>
    <p:sldId id="285" r:id="rId4"/>
    <p:sldId id="257" r:id="rId5"/>
    <p:sldId id="278" r:id="rId6"/>
    <p:sldId id="286" r:id="rId7"/>
    <p:sldId id="279" r:id="rId8"/>
    <p:sldId id="280" r:id="rId9"/>
    <p:sldId id="287" r:id="rId10"/>
    <p:sldId id="281" r:id="rId11"/>
    <p:sldId id="288" r:id="rId12"/>
    <p:sldId id="289" r:id="rId13"/>
    <p:sldId id="290" r:id="rId14"/>
    <p:sldId id="273" r:id="rId15"/>
    <p:sldId id="291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EF6AE4-DCAC-47DB-B597-BF8477634DB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26CFAE6-763C-48F2-9C05-1F8C599FE9F6}">
      <dgm:prSet/>
      <dgm:spPr/>
      <dgm:t>
        <a:bodyPr/>
        <a:lstStyle/>
        <a:p>
          <a:r>
            <a:rPr lang="en-US" b="1" dirty="0"/>
            <a:t>Socio-Economic Impact</a:t>
          </a:r>
          <a:endParaRPr lang="en-US" dirty="0"/>
        </a:p>
      </dgm:t>
    </dgm:pt>
    <dgm:pt modelId="{8A426D87-CBBC-4E36-AEB6-5015C41558B1}" type="parTrans" cxnId="{E1A8A3F0-25C3-4F76-8394-56B0FD65E402}">
      <dgm:prSet/>
      <dgm:spPr/>
      <dgm:t>
        <a:bodyPr/>
        <a:lstStyle/>
        <a:p>
          <a:endParaRPr lang="en-US"/>
        </a:p>
      </dgm:t>
    </dgm:pt>
    <dgm:pt modelId="{1616063D-799C-4684-B7C2-81155F91E520}" type="sibTrans" cxnId="{E1A8A3F0-25C3-4F76-8394-56B0FD65E402}">
      <dgm:prSet/>
      <dgm:spPr/>
      <dgm:t>
        <a:bodyPr/>
        <a:lstStyle/>
        <a:p>
          <a:endParaRPr lang="en-US"/>
        </a:p>
      </dgm:t>
    </dgm:pt>
    <dgm:pt modelId="{86CB57A3-1ED8-44E4-B7A9-3A53F474BAD6}">
      <dgm:prSet/>
      <dgm:spPr/>
      <dgm:t>
        <a:bodyPr/>
        <a:lstStyle/>
        <a:p>
          <a:r>
            <a:rPr lang="en-US" b="1"/>
            <a:t>Islam [1]</a:t>
          </a:r>
          <a:r>
            <a:rPr lang="en-US"/>
            <a:t> found that while 90% of residents face environmental threats, 79% lack the resources to adapt.</a:t>
          </a:r>
        </a:p>
      </dgm:t>
    </dgm:pt>
    <dgm:pt modelId="{676DD718-CB58-4E36-8056-FED06BF50653}" type="parTrans" cxnId="{7FD7DF79-61E9-4D0F-81AE-541E0044FB13}">
      <dgm:prSet/>
      <dgm:spPr/>
      <dgm:t>
        <a:bodyPr/>
        <a:lstStyle/>
        <a:p>
          <a:endParaRPr lang="en-US"/>
        </a:p>
      </dgm:t>
    </dgm:pt>
    <dgm:pt modelId="{A7DA2F71-3634-405E-866F-9A52AF6980C3}" type="sibTrans" cxnId="{7FD7DF79-61E9-4D0F-81AE-541E0044FB13}">
      <dgm:prSet/>
      <dgm:spPr/>
      <dgm:t>
        <a:bodyPr/>
        <a:lstStyle/>
        <a:p>
          <a:endParaRPr lang="en-US"/>
        </a:p>
      </dgm:t>
    </dgm:pt>
    <dgm:pt modelId="{786C734F-2E11-4FB3-9B2E-AC80A1100896}">
      <dgm:prSet/>
      <dgm:spPr/>
      <dgm:t>
        <a:bodyPr/>
        <a:lstStyle/>
        <a:p>
          <a:r>
            <a:rPr lang="en-US" b="1"/>
            <a:t>Chakma et al. [3]</a:t>
          </a:r>
          <a:r>
            <a:rPr lang="en-US"/>
            <a:t> discovered that salinity intrusion has forced ~30% of locals to abandon traditional professions.</a:t>
          </a:r>
        </a:p>
      </dgm:t>
    </dgm:pt>
    <dgm:pt modelId="{701FF034-2BCE-4812-8F56-BA617A76A4C7}" type="parTrans" cxnId="{7484D764-21B7-4BFB-A291-BD02B19CA1CC}">
      <dgm:prSet/>
      <dgm:spPr/>
      <dgm:t>
        <a:bodyPr/>
        <a:lstStyle/>
        <a:p>
          <a:endParaRPr lang="en-US"/>
        </a:p>
      </dgm:t>
    </dgm:pt>
    <dgm:pt modelId="{8EAC38A4-5984-42B2-AA05-BF3B0DC66E9A}" type="sibTrans" cxnId="{7484D764-21B7-4BFB-A291-BD02B19CA1CC}">
      <dgm:prSet/>
      <dgm:spPr/>
      <dgm:t>
        <a:bodyPr/>
        <a:lstStyle/>
        <a:p>
          <a:endParaRPr lang="en-US"/>
        </a:p>
      </dgm:t>
    </dgm:pt>
    <dgm:pt modelId="{75485A76-3970-4644-A9B1-AD9D6DF3AA32}">
      <dgm:prSet/>
      <dgm:spPr/>
      <dgm:t>
        <a:bodyPr/>
        <a:lstStyle/>
        <a:p>
          <a:r>
            <a:rPr lang="en-US" b="1"/>
            <a:t>Limitation:</a:t>
          </a:r>
          <a:r>
            <a:rPr lang="en-US"/>
            <a:t> Studies are mostly survey-based and localized.</a:t>
          </a:r>
        </a:p>
      </dgm:t>
    </dgm:pt>
    <dgm:pt modelId="{9D8D222B-A60B-48DF-BB1B-06078E70EB3F}" type="parTrans" cxnId="{E3893561-1287-459B-AEAB-CF7FEC12AC69}">
      <dgm:prSet/>
      <dgm:spPr/>
      <dgm:t>
        <a:bodyPr/>
        <a:lstStyle/>
        <a:p>
          <a:endParaRPr lang="en-US"/>
        </a:p>
      </dgm:t>
    </dgm:pt>
    <dgm:pt modelId="{5CC163A6-4824-4E9D-B2F6-B246D6F5911A}" type="sibTrans" cxnId="{E3893561-1287-459B-AEAB-CF7FEC12AC69}">
      <dgm:prSet/>
      <dgm:spPr/>
      <dgm:t>
        <a:bodyPr/>
        <a:lstStyle/>
        <a:p>
          <a:endParaRPr lang="en-US"/>
        </a:p>
      </dgm:t>
    </dgm:pt>
    <dgm:pt modelId="{5D49D6C3-B376-4F96-9989-8E4A3CC1710C}">
      <dgm:prSet/>
      <dgm:spPr/>
      <dgm:t>
        <a:bodyPr/>
        <a:lstStyle/>
        <a:p>
          <a:r>
            <a:rPr lang="en-US" b="1"/>
            <a:t>Remote Sensing (Physical Monitoring)</a:t>
          </a:r>
          <a:endParaRPr lang="en-US"/>
        </a:p>
      </dgm:t>
    </dgm:pt>
    <dgm:pt modelId="{61C9F6A6-BE3C-4091-AA17-923F5AB5AF81}" type="parTrans" cxnId="{C0C4EA56-AA9A-40D6-835F-4A72F3D8591D}">
      <dgm:prSet/>
      <dgm:spPr/>
      <dgm:t>
        <a:bodyPr/>
        <a:lstStyle/>
        <a:p>
          <a:endParaRPr lang="en-US"/>
        </a:p>
      </dgm:t>
    </dgm:pt>
    <dgm:pt modelId="{96FF7109-D162-4FC0-BE6B-B9BE2895B301}" type="sibTrans" cxnId="{C0C4EA56-AA9A-40D6-835F-4A72F3D8591D}">
      <dgm:prSet/>
      <dgm:spPr/>
      <dgm:t>
        <a:bodyPr/>
        <a:lstStyle/>
        <a:p>
          <a:endParaRPr lang="en-US"/>
        </a:p>
      </dgm:t>
    </dgm:pt>
    <dgm:pt modelId="{29AD3B17-1C50-4935-8027-7EBA81E83E80}">
      <dgm:prSet/>
      <dgm:spPr/>
      <dgm:t>
        <a:bodyPr/>
        <a:lstStyle/>
        <a:p>
          <a:r>
            <a:rPr lang="en-US" b="1"/>
            <a:t>Roy et al. [6]</a:t>
          </a:r>
          <a:r>
            <a:rPr lang="en-US"/>
            <a:t> and </a:t>
          </a:r>
          <a:r>
            <a:rPr lang="en-US" b="1"/>
            <a:t>Enan et al. [2]</a:t>
          </a:r>
          <a:r>
            <a:rPr lang="en-US"/>
            <a:t> successfully mapped forest degradation using optical satellites (Sentinel-2/Landsat).</a:t>
          </a:r>
        </a:p>
      </dgm:t>
    </dgm:pt>
    <dgm:pt modelId="{0DA53FFE-D81F-4D6B-BA54-3A878A566981}" type="parTrans" cxnId="{C9DE3E51-C5A2-4E61-9D81-F4C4B7E08AFE}">
      <dgm:prSet/>
      <dgm:spPr/>
      <dgm:t>
        <a:bodyPr/>
        <a:lstStyle/>
        <a:p>
          <a:endParaRPr lang="en-US"/>
        </a:p>
      </dgm:t>
    </dgm:pt>
    <dgm:pt modelId="{2ADD95FF-AE33-4A45-8EF8-F6B10FED3314}" type="sibTrans" cxnId="{C9DE3E51-C5A2-4E61-9D81-F4C4B7E08AFE}">
      <dgm:prSet/>
      <dgm:spPr/>
      <dgm:t>
        <a:bodyPr/>
        <a:lstStyle/>
        <a:p>
          <a:endParaRPr lang="en-US"/>
        </a:p>
      </dgm:t>
    </dgm:pt>
    <dgm:pt modelId="{AF57AF8E-2687-40BA-96AA-B94B887A164B}">
      <dgm:prSet/>
      <dgm:spPr/>
      <dgm:t>
        <a:bodyPr/>
        <a:lstStyle/>
        <a:p>
          <a:r>
            <a:rPr lang="en-US" b="1"/>
            <a:t>Wahid et al. [12]</a:t>
          </a:r>
          <a:r>
            <a:rPr lang="en-US"/>
            <a:t> confirmed sharp salinity increases in the central Sundarbans.</a:t>
          </a:r>
        </a:p>
      </dgm:t>
    </dgm:pt>
    <dgm:pt modelId="{DA64A3C1-2A53-4597-8649-6521515A6625}" type="parTrans" cxnId="{7FCBD1A1-C246-4640-BE16-88D0FB9E194C}">
      <dgm:prSet/>
      <dgm:spPr/>
      <dgm:t>
        <a:bodyPr/>
        <a:lstStyle/>
        <a:p>
          <a:endParaRPr lang="en-US"/>
        </a:p>
      </dgm:t>
    </dgm:pt>
    <dgm:pt modelId="{3C6895FF-76DB-4DC8-9C4A-2A20AB2ECC17}" type="sibTrans" cxnId="{7FCBD1A1-C246-4640-BE16-88D0FB9E194C}">
      <dgm:prSet/>
      <dgm:spPr/>
      <dgm:t>
        <a:bodyPr/>
        <a:lstStyle/>
        <a:p>
          <a:endParaRPr lang="en-US"/>
        </a:p>
      </dgm:t>
    </dgm:pt>
    <dgm:pt modelId="{619B8167-8627-4CE7-8065-DB89289C012A}">
      <dgm:prSet/>
      <dgm:spPr/>
      <dgm:t>
        <a:bodyPr/>
        <a:lstStyle/>
        <a:p>
          <a:r>
            <a:rPr lang="en-US" b="1"/>
            <a:t>Limitation:</a:t>
          </a:r>
          <a:r>
            <a:rPr lang="en-US"/>
            <a:t> </a:t>
          </a:r>
          <a:r>
            <a:rPr lang="en-US" b="1"/>
            <a:t>Shampa et al. [16]</a:t>
          </a:r>
          <a:r>
            <a:rPr lang="en-US"/>
            <a:t> emphasize that these optical sensors are blind during the cloudy monsoon season.</a:t>
          </a:r>
        </a:p>
      </dgm:t>
    </dgm:pt>
    <dgm:pt modelId="{4D5EE0B0-4858-4653-B613-46F0DE84A5DF}" type="parTrans" cxnId="{69A20289-A8F3-4B87-9B4D-D2A42706537A}">
      <dgm:prSet/>
      <dgm:spPr/>
      <dgm:t>
        <a:bodyPr/>
        <a:lstStyle/>
        <a:p>
          <a:endParaRPr lang="en-US"/>
        </a:p>
      </dgm:t>
    </dgm:pt>
    <dgm:pt modelId="{1A204F37-FBAC-49D7-8810-855CEB55EE47}" type="sibTrans" cxnId="{69A20289-A8F3-4B87-9B4D-D2A42706537A}">
      <dgm:prSet/>
      <dgm:spPr/>
      <dgm:t>
        <a:bodyPr/>
        <a:lstStyle/>
        <a:p>
          <a:endParaRPr lang="en-US"/>
        </a:p>
      </dgm:t>
    </dgm:pt>
    <dgm:pt modelId="{2B2926C3-4FF2-4C1F-A8A1-45E012CE6C21}">
      <dgm:prSet/>
      <dgm:spPr/>
      <dgm:t>
        <a:bodyPr/>
        <a:lstStyle/>
        <a:p>
          <a:r>
            <a:rPr lang="en-US" b="1"/>
            <a:t>Deep Learning &amp; AI</a:t>
          </a:r>
          <a:endParaRPr lang="en-US"/>
        </a:p>
      </dgm:t>
    </dgm:pt>
    <dgm:pt modelId="{8F249F61-1E79-4DCC-802C-A796E4A323D7}" type="parTrans" cxnId="{658C9A26-8665-44FE-B752-15328978AD1E}">
      <dgm:prSet/>
      <dgm:spPr/>
      <dgm:t>
        <a:bodyPr/>
        <a:lstStyle/>
        <a:p>
          <a:endParaRPr lang="en-US"/>
        </a:p>
      </dgm:t>
    </dgm:pt>
    <dgm:pt modelId="{21173921-ED89-427B-AE27-00FED98CAD87}" type="sibTrans" cxnId="{658C9A26-8665-44FE-B752-15328978AD1E}">
      <dgm:prSet/>
      <dgm:spPr/>
      <dgm:t>
        <a:bodyPr/>
        <a:lstStyle/>
        <a:p>
          <a:endParaRPr lang="en-US"/>
        </a:p>
      </dgm:t>
    </dgm:pt>
    <dgm:pt modelId="{B33F3825-37FA-42DD-8A0D-8D5BBCDB36B8}">
      <dgm:prSet/>
      <dgm:spPr/>
      <dgm:t>
        <a:bodyPr/>
        <a:lstStyle/>
        <a:p>
          <a:r>
            <a:rPr lang="en-US" b="1"/>
            <a:t>Li et al. [14]</a:t>
          </a:r>
          <a:r>
            <a:rPr lang="en-US"/>
            <a:t> and </a:t>
          </a:r>
          <a:r>
            <a:rPr lang="en-US" b="1"/>
            <a:t>Wang et al. [23]</a:t>
          </a:r>
          <a:r>
            <a:rPr lang="en-US"/>
            <a:t> demonstrated that CNNs can effectively integrate diverse environmental data.</a:t>
          </a:r>
        </a:p>
      </dgm:t>
    </dgm:pt>
    <dgm:pt modelId="{0886542D-5D71-4E18-8F37-9A045626EFFC}" type="parTrans" cxnId="{5417B5D5-A55C-447C-BC41-2638B16E5302}">
      <dgm:prSet/>
      <dgm:spPr/>
      <dgm:t>
        <a:bodyPr/>
        <a:lstStyle/>
        <a:p>
          <a:endParaRPr lang="en-US"/>
        </a:p>
      </dgm:t>
    </dgm:pt>
    <dgm:pt modelId="{BEBB4FD4-8345-4153-AEE5-88D617651B21}" type="sibTrans" cxnId="{5417B5D5-A55C-447C-BC41-2638B16E5302}">
      <dgm:prSet/>
      <dgm:spPr/>
      <dgm:t>
        <a:bodyPr/>
        <a:lstStyle/>
        <a:p>
          <a:endParaRPr lang="en-US"/>
        </a:p>
      </dgm:t>
    </dgm:pt>
    <dgm:pt modelId="{4D69ECC0-3D68-4F1D-86BB-CC84AD488157}">
      <dgm:prSet/>
      <dgm:spPr/>
      <dgm:t>
        <a:bodyPr/>
        <a:lstStyle/>
        <a:p>
          <a:r>
            <a:rPr lang="en-US" b="1"/>
            <a:t>Limitation:</a:t>
          </a:r>
          <a:r>
            <a:rPr lang="en-US"/>
            <a:t> </a:t>
          </a:r>
          <a:r>
            <a:rPr lang="en-US" b="1"/>
            <a:t>Chakma &amp; Akter [17]</a:t>
          </a:r>
          <a:r>
            <a:rPr lang="en-US"/>
            <a:t> highlight the "Black Box" problem, where models fail to explain </a:t>
          </a:r>
          <a:r>
            <a:rPr lang="en-US" i="1"/>
            <a:t>why</a:t>
          </a:r>
          <a:r>
            <a:rPr lang="en-US"/>
            <a:t> a flood is predicted.</a:t>
          </a:r>
        </a:p>
      </dgm:t>
    </dgm:pt>
    <dgm:pt modelId="{20760B01-FBAC-4B3D-8A53-2781E667A407}" type="parTrans" cxnId="{0AC537B3-755B-48D6-A8F8-C86182061F70}">
      <dgm:prSet/>
      <dgm:spPr/>
      <dgm:t>
        <a:bodyPr/>
        <a:lstStyle/>
        <a:p>
          <a:endParaRPr lang="en-US"/>
        </a:p>
      </dgm:t>
    </dgm:pt>
    <dgm:pt modelId="{95E6E6B8-97FC-432D-BDA4-BD4089A1992C}" type="sibTrans" cxnId="{0AC537B3-755B-48D6-A8F8-C86182061F70}">
      <dgm:prSet/>
      <dgm:spPr/>
      <dgm:t>
        <a:bodyPr/>
        <a:lstStyle/>
        <a:p>
          <a:endParaRPr lang="en-US"/>
        </a:p>
      </dgm:t>
    </dgm:pt>
    <dgm:pt modelId="{C7503BE8-650B-4B7D-85BD-DF971D1944C5}">
      <dgm:prSet/>
      <dgm:spPr/>
      <dgm:t>
        <a:bodyPr/>
        <a:lstStyle/>
        <a:p>
          <a:r>
            <a:rPr lang="en-US" b="1"/>
            <a:t>How We Fill the Gap</a:t>
          </a:r>
          <a:endParaRPr lang="en-US"/>
        </a:p>
      </dgm:t>
    </dgm:pt>
    <dgm:pt modelId="{AB0D38F0-7511-4465-83CC-1EBF0D57D525}" type="parTrans" cxnId="{A4472856-7249-4F5A-A217-374C8940F6F1}">
      <dgm:prSet/>
      <dgm:spPr/>
      <dgm:t>
        <a:bodyPr/>
        <a:lstStyle/>
        <a:p>
          <a:endParaRPr lang="en-US"/>
        </a:p>
      </dgm:t>
    </dgm:pt>
    <dgm:pt modelId="{6C4D6073-3516-4572-8D4E-778892635C6A}" type="sibTrans" cxnId="{A4472856-7249-4F5A-A217-374C8940F6F1}">
      <dgm:prSet/>
      <dgm:spPr/>
      <dgm:t>
        <a:bodyPr/>
        <a:lstStyle/>
        <a:p>
          <a:endParaRPr lang="en-US"/>
        </a:p>
      </dgm:t>
    </dgm:pt>
    <dgm:pt modelId="{B5919118-CB1B-4F4F-81BA-F9A6E103A319}">
      <dgm:prSet/>
      <dgm:spPr/>
      <dgm:t>
        <a:bodyPr/>
        <a:lstStyle/>
        <a:p>
          <a:r>
            <a:rPr lang="en-US"/>
            <a:t>Unlike </a:t>
          </a:r>
          <a:r>
            <a:rPr lang="en-US" b="1"/>
            <a:t>Shampa et al. [16]</a:t>
          </a:r>
          <a:r>
            <a:rPr lang="en-US"/>
            <a:t>, we use </a:t>
          </a:r>
          <a:r>
            <a:rPr lang="en-US" b="1"/>
            <a:t>SAR (Radar)</a:t>
          </a:r>
          <a:r>
            <a:rPr lang="en-US"/>
            <a:t> to see through clouds.</a:t>
          </a:r>
        </a:p>
      </dgm:t>
    </dgm:pt>
    <dgm:pt modelId="{A90F0615-941E-4618-8157-516BC0084130}" type="parTrans" cxnId="{05F79DD7-AC13-47C6-9E9F-5EFEECBECF60}">
      <dgm:prSet/>
      <dgm:spPr/>
      <dgm:t>
        <a:bodyPr/>
        <a:lstStyle/>
        <a:p>
          <a:endParaRPr lang="en-US"/>
        </a:p>
      </dgm:t>
    </dgm:pt>
    <dgm:pt modelId="{90266D63-EF17-4523-A685-69B41EC31652}" type="sibTrans" cxnId="{05F79DD7-AC13-47C6-9E9F-5EFEECBECF60}">
      <dgm:prSet/>
      <dgm:spPr/>
      <dgm:t>
        <a:bodyPr/>
        <a:lstStyle/>
        <a:p>
          <a:endParaRPr lang="en-US"/>
        </a:p>
      </dgm:t>
    </dgm:pt>
    <dgm:pt modelId="{74A3777D-13EE-4E70-8C52-071BA1F65B58}">
      <dgm:prSet/>
      <dgm:spPr/>
      <dgm:t>
        <a:bodyPr/>
        <a:lstStyle/>
        <a:p>
          <a:r>
            <a:rPr lang="en-US"/>
            <a:t>We solve the transparency issue using </a:t>
          </a:r>
          <a:r>
            <a:rPr lang="en-US" b="1"/>
            <a:t>Jiang et al.’s [24]</a:t>
          </a:r>
          <a:r>
            <a:rPr lang="en-US"/>
            <a:t> LayerCAM visualization.</a:t>
          </a:r>
        </a:p>
      </dgm:t>
    </dgm:pt>
    <dgm:pt modelId="{402D9B42-E6FC-4A01-9FF3-AF1CC9CF9532}" type="parTrans" cxnId="{0601D0A8-CC41-418F-9C31-6C87ECA962AE}">
      <dgm:prSet/>
      <dgm:spPr/>
      <dgm:t>
        <a:bodyPr/>
        <a:lstStyle/>
        <a:p>
          <a:endParaRPr lang="en-US"/>
        </a:p>
      </dgm:t>
    </dgm:pt>
    <dgm:pt modelId="{EC2C8EA3-77CA-47F6-B227-9C25C3528FDE}" type="sibTrans" cxnId="{0601D0A8-CC41-418F-9C31-6C87ECA962AE}">
      <dgm:prSet/>
      <dgm:spPr/>
      <dgm:t>
        <a:bodyPr/>
        <a:lstStyle/>
        <a:p>
          <a:endParaRPr lang="en-US"/>
        </a:p>
      </dgm:t>
    </dgm:pt>
    <dgm:pt modelId="{489B8A25-C44D-4F12-B3A9-D6FCACB5E380}" type="pres">
      <dgm:prSet presAssocID="{80EF6AE4-DCAC-47DB-B597-BF8477634DB0}" presName="linear" presStyleCnt="0">
        <dgm:presLayoutVars>
          <dgm:dir/>
          <dgm:animLvl val="lvl"/>
          <dgm:resizeHandles val="exact"/>
        </dgm:presLayoutVars>
      </dgm:prSet>
      <dgm:spPr/>
    </dgm:pt>
    <dgm:pt modelId="{810F1593-01A5-4F2A-A8C1-2C16B0D31E21}" type="pres">
      <dgm:prSet presAssocID="{026CFAE6-763C-48F2-9C05-1F8C599FE9F6}" presName="parentLin" presStyleCnt="0"/>
      <dgm:spPr/>
    </dgm:pt>
    <dgm:pt modelId="{47C128AD-538B-4236-BF65-98020C733CF2}" type="pres">
      <dgm:prSet presAssocID="{026CFAE6-763C-48F2-9C05-1F8C599FE9F6}" presName="parentLeftMargin" presStyleLbl="node1" presStyleIdx="0" presStyleCnt="4"/>
      <dgm:spPr/>
    </dgm:pt>
    <dgm:pt modelId="{D4200BB8-864F-4500-97A2-4F0A55E3768E}" type="pres">
      <dgm:prSet presAssocID="{026CFAE6-763C-48F2-9C05-1F8C599FE9F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6DA2C6-B45F-4D97-BBD3-25C2157BEBBA}" type="pres">
      <dgm:prSet presAssocID="{026CFAE6-763C-48F2-9C05-1F8C599FE9F6}" presName="negativeSpace" presStyleCnt="0"/>
      <dgm:spPr/>
    </dgm:pt>
    <dgm:pt modelId="{296E4E9D-768B-49FC-A239-76A451053028}" type="pres">
      <dgm:prSet presAssocID="{026CFAE6-763C-48F2-9C05-1F8C599FE9F6}" presName="childText" presStyleLbl="conFgAcc1" presStyleIdx="0" presStyleCnt="4">
        <dgm:presLayoutVars>
          <dgm:bulletEnabled val="1"/>
        </dgm:presLayoutVars>
      </dgm:prSet>
      <dgm:spPr/>
    </dgm:pt>
    <dgm:pt modelId="{C1330F0E-5423-4E3A-BE52-E6EBCD93F566}" type="pres">
      <dgm:prSet presAssocID="{1616063D-799C-4684-B7C2-81155F91E520}" presName="spaceBetweenRectangles" presStyleCnt="0"/>
      <dgm:spPr/>
    </dgm:pt>
    <dgm:pt modelId="{7A1AB4AE-761C-4362-AB5B-CF04394011C4}" type="pres">
      <dgm:prSet presAssocID="{5D49D6C3-B376-4F96-9989-8E4A3CC1710C}" presName="parentLin" presStyleCnt="0"/>
      <dgm:spPr/>
    </dgm:pt>
    <dgm:pt modelId="{D50D9F98-0F8E-49D8-B4F8-F43840530B1F}" type="pres">
      <dgm:prSet presAssocID="{5D49D6C3-B376-4F96-9989-8E4A3CC1710C}" presName="parentLeftMargin" presStyleLbl="node1" presStyleIdx="0" presStyleCnt="4"/>
      <dgm:spPr/>
    </dgm:pt>
    <dgm:pt modelId="{DA8F6A43-9FAF-418F-9F4E-174D40D338B6}" type="pres">
      <dgm:prSet presAssocID="{5D49D6C3-B376-4F96-9989-8E4A3CC171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D86F89-575D-4DB5-8BD9-2FEC3794182C}" type="pres">
      <dgm:prSet presAssocID="{5D49D6C3-B376-4F96-9989-8E4A3CC1710C}" presName="negativeSpace" presStyleCnt="0"/>
      <dgm:spPr/>
    </dgm:pt>
    <dgm:pt modelId="{E8AF32C9-257A-48F1-BFB1-20C42A0DB8F9}" type="pres">
      <dgm:prSet presAssocID="{5D49D6C3-B376-4F96-9989-8E4A3CC1710C}" presName="childText" presStyleLbl="conFgAcc1" presStyleIdx="1" presStyleCnt="4">
        <dgm:presLayoutVars>
          <dgm:bulletEnabled val="1"/>
        </dgm:presLayoutVars>
      </dgm:prSet>
      <dgm:spPr/>
    </dgm:pt>
    <dgm:pt modelId="{C36A9329-83D8-452A-97A1-571BE864637D}" type="pres">
      <dgm:prSet presAssocID="{96FF7109-D162-4FC0-BE6B-B9BE2895B301}" presName="spaceBetweenRectangles" presStyleCnt="0"/>
      <dgm:spPr/>
    </dgm:pt>
    <dgm:pt modelId="{E2CF8EDA-FE30-42A2-BC80-6C3BF544D576}" type="pres">
      <dgm:prSet presAssocID="{2B2926C3-4FF2-4C1F-A8A1-45E012CE6C21}" presName="parentLin" presStyleCnt="0"/>
      <dgm:spPr/>
    </dgm:pt>
    <dgm:pt modelId="{06FA0DA9-C71E-42F9-9F53-09FA1A4C347F}" type="pres">
      <dgm:prSet presAssocID="{2B2926C3-4FF2-4C1F-A8A1-45E012CE6C21}" presName="parentLeftMargin" presStyleLbl="node1" presStyleIdx="1" presStyleCnt="4"/>
      <dgm:spPr/>
    </dgm:pt>
    <dgm:pt modelId="{F6DB6333-67EE-4844-AE6C-0B92F3C79583}" type="pres">
      <dgm:prSet presAssocID="{2B2926C3-4FF2-4C1F-A8A1-45E012CE6C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80083FF-39E4-4358-8521-DC4E275AD332}" type="pres">
      <dgm:prSet presAssocID="{2B2926C3-4FF2-4C1F-A8A1-45E012CE6C21}" presName="negativeSpace" presStyleCnt="0"/>
      <dgm:spPr/>
    </dgm:pt>
    <dgm:pt modelId="{7407E099-E4F3-42A3-87A7-88A9A5EEE9BD}" type="pres">
      <dgm:prSet presAssocID="{2B2926C3-4FF2-4C1F-A8A1-45E012CE6C21}" presName="childText" presStyleLbl="conFgAcc1" presStyleIdx="2" presStyleCnt="4">
        <dgm:presLayoutVars>
          <dgm:bulletEnabled val="1"/>
        </dgm:presLayoutVars>
      </dgm:prSet>
      <dgm:spPr/>
    </dgm:pt>
    <dgm:pt modelId="{C874B615-9A94-41B5-AABE-0582DA4A43BD}" type="pres">
      <dgm:prSet presAssocID="{21173921-ED89-427B-AE27-00FED98CAD87}" presName="spaceBetweenRectangles" presStyleCnt="0"/>
      <dgm:spPr/>
    </dgm:pt>
    <dgm:pt modelId="{4B704C6A-43E6-465F-9D2C-D50E718E4453}" type="pres">
      <dgm:prSet presAssocID="{C7503BE8-650B-4B7D-85BD-DF971D1944C5}" presName="parentLin" presStyleCnt="0"/>
      <dgm:spPr/>
    </dgm:pt>
    <dgm:pt modelId="{FEF9936D-1685-41F8-A246-7CBC272AE247}" type="pres">
      <dgm:prSet presAssocID="{C7503BE8-650B-4B7D-85BD-DF971D1944C5}" presName="parentLeftMargin" presStyleLbl="node1" presStyleIdx="2" presStyleCnt="4"/>
      <dgm:spPr/>
    </dgm:pt>
    <dgm:pt modelId="{1C30B721-B655-4564-B24E-D7B4B66CFABB}" type="pres">
      <dgm:prSet presAssocID="{C7503BE8-650B-4B7D-85BD-DF971D1944C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A96B03C-003F-4C55-8FE9-2D28C805D098}" type="pres">
      <dgm:prSet presAssocID="{C7503BE8-650B-4B7D-85BD-DF971D1944C5}" presName="negativeSpace" presStyleCnt="0"/>
      <dgm:spPr/>
    </dgm:pt>
    <dgm:pt modelId="{17285EB1-A2AB-4EB6-9453-FF666BDF5B47}" type="pres">
      <dgm:prSet presAssocID="{C7503BE8-650B-4B7D-85BD-DF971D1944C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F8AB205-A1C5-4C55-9530-2EAE6FC50211}" type="presOf" srcId="{026CFAE6-763C-48F2-9C05-1F8C599FE9F6}" destId="{47C128AD-538B-4236-BF65-98020C733CF2}" srcOrd="0" destOrd="0" presId="urn:microsoft.com/office/officeart/2005/8/layout/list1"/>
    <dgm:cxn modelId="{251E620A-2C43-4EF2-8969-C9DA268454E2}" type="presOf" srcId="{C7503BE8-650B-4B7D-85BD-DF971D1944C5}" destId="{FEF9936D-1685-41F8-A246-7CBC272AE247}" srcOrd="0" destOrd="0" presId="urn:microsoft.com/office/officeart/2005/8/layout/list1"/>
    <dgm:cxn modelId="{83DD980B-5867-438A-9C6B-08EF212A787A}" type="presOf" srcId="{80EF6AE4-DCAC-47DB-B597-BF8477634DB0}" destId="{489B8A25-C44D-4F12-B3A9-D6FCACB5E380}" srcOrd="0" destOrd="0" presId="urn:microsoft.com/office/officeart/2005/8/layout/list1"/>
    <dgm:cxn modelId="{37816D10-1AEF-4838-9F77-7461200363F4}" type="presOf" srcId="{5D49D6C3-B376-4F96-9989-8E4A3CC1710C}" destId="{DA8F6A43-9FAF-418F-9F4E-174D40D338B6}" srcOrd="1" destOrd="0" presId="urn:microsoft.com/office/officeart/2005/8/layout/list1"/>
    <dgm:cxn modelId="{658C9A26-8665-44FE-B752-15328978AD1E}" srcId="{80EF6AE4-DCAC-47DB-B597-BF8477634DB0}" destId="{2B2926C3-4FF2-4C1F-A8A1-45E012CE6C21}" srcOrd="2" destOrd="0" parTransId="{8F249F61-1E79-4DCC-802C-A796E4A323D7}" sibTransId="{21173921-ED89-427B-AE27-00FED98CAD87}"/>
    <dgm:cxn modelId="{88BA1030-5C5A-4F0A-B2E9-ECF2438E3C4B}" type="presOf" srcId="{29AD3B17-1C50-4935-8027-7EBA81E83E80}" destId="{E8AF32C9-257A-48F1-BFB1-20C42A0DB8F9}" srcOrd="0" destOrd="0" presId="urn:microsoft.com/office/officeart/2005/8/layout/list1"/>
    <dgm:cxn modelId="{B2032639-1F5F-47A8-851A-81AD0780745C}" type="presOf" srcId="{786C734F-2E11-4FB3-9B2E-AC80A1100896}" destId="{296E4E9D-768B-49FC-A239-76A451053028}" srcOrd="0" destOrd="1" presId="urn:microsoft.com/office/officeart/2005/8/layout/list1"/>
    <dgm:cxn modelId="{55AE353C-6911-4D46-8D54-7042DBD72B02}" type="presOf" srcId="{026CFAE6-763C-48F2-9C05-1F8C599FE9F6}" destId="{D4200BB8-864F-4500-97A2-4F0A55E3768E}" srcOrd="1" destOrd="0" presId="urn:microsoft.com/office/officeart/2005/8/layout/list1"/>
    <dgm:cxn modelId="{E3893561-1287-459B-AEAB-CF7FEC12AC69}" srcId="{026CFAE6-763C-48F2-9C05-1F8C599FE9F6}" destId="{75485A76-3970-4644-A9B1-AD9D6DF3AA32}" srcOrd="2" destOrd="0" parTransId="{9D8D222B-A60B-48DF-BB1B-06078E70EB3F}" sibTransId="{5CC163A6-4824-4E9D-B2F6-B246D6F5911A}"/>
    <dgm:cxn modelId="{004D6E42-CF1D-4A81-8497-921EAE7E9EF8}" type="presOf" srcId="{B33F3825-37FA-42DD-8A0D-8D5BBCDB36B8}" destId="{7407E099-E4F3-42A3-87A7-88A9A5EEE9BD}" srcOrd="0" destOrd="0" presId="urn:microsoft.com/office/officeart/2005/8/layout/list1"/>
    <dgm:cxn modelId="{7484D764-21B7-4BFB-A291-BD02B19CA1CC}" srcId="{026CFAE6-763C-48F2-9C05-1F8C599FE9F6}" destId="{786C734F-2E11-4FB3-9B2E-AC80A1100896}" srcOrd="1" destOrd="0" parTransId="{701FF034-2BCE-4812-8F56-BA617A76A4C7}" sibTransId="{8EAC38A4-5984-42B2-AA05-BF3B0DC66E9A}"/>
    <dgm:cxn modelId="{C73F0C46-01DF-437E-A3D3-561C81C60524}" type="presOf" srcId="{619B8167-8627-4CE7-8065-DB89289C012A}" destId="{E8AF32C9-257A-48F1-BFB1-20C42A0DB8F9}" srcOrd="0" destOrd="2" presId="urn:microsoft.com/office/officeart/2005/8/layout/list1"/>
    <dgm:cxn modelId="{120C0848-2FCE-4C20-B5A7-8DC81BB23C9F}" type="presOf" srcId="{86CB57A3-1ED8-44E4-B7A9-3A53F474BAD6}" destId="{296E4E9D-768B-49FC-A239-76A451053028}" srcOrd="0" destOrd="0" presId="urn:microsoft.com/office/officeart/2005/8/layout/list1"/>
    <dgm:cxn modelId="{FB324848-9E52-4405-A6D0-D1840F5651F8}" type="presOf" srcId="{75485A76-3970-4644-A9B1-AD9D6DF3AA32}" destId="{296E4E9D-768B-49FC-A239-76A451053028}" srcOrd="0" destOrd="2" presId="urn:microsoft.com/office/officeart/2005/8/layout/list1"/>
    <dgm:cxn modelId="{FB15624F-5FF0-413D-9E25-6E8986BC94FD}" type="presOf" srcId="{2B2926C3-4FF2-4C1F-A8A1-45E012CE6C21}" destId="{06FA0DA9-C71E-42F9-9F53-09FA1A4C347F}" srcOrd="0" destOrd="0" presId="urn:microsoft.com/office/officeart/2005/8/layout/list1"/>
    <dgm:cxn modelId="{C3E5834F-6353-4D99-8C61-0A0A9FC8C57A}" type="presOf" srcId="{AF57AF8E-2687-40BA-96AA-B94B887A164B}" destId="{E8AF32C9-257A-48F1-BFB1-20C42A0DB8F9}" srcOrd="0" destOrd="1" presId="urn:microsoft.com/office/officeart/2005/8/layout/list1"/>
    <dgm:cxn modelId="{C9DE3E51-C5A2-4E61-9D81-F4C4B7E08AFE}" srcId="{5D49D6C3-B376-4F96-9989-8E4A3CC1710C}" destId="{29AD3B17-1C50-4935-8027-7EBA81E83E80}" srcOrd="0" destOrd="0" parTransId="{0DA53FFE-D81F-4D6B-BA54-3A878A566981}" sibTransId="{2ADD95FF-AE33-4A45-8EF8-F6B10FED3314}"/>
    <dgm:cxn modelId="{6C215A52-C403-4F68-B053-3471CC6AD71D}" type="presOf" srcId="{4D69ECC0-3D68-4F1D-86BB-CC84AD488157}" destId="{7407E099-E4F3-42A3-87A7-88A9A5EEE9BD}" srcOrd="0" destOrd="1" presId="urn:microsoft.com/office/officeart/2005/8/layout/list1"/>
    <dgm:cxn modelId="{A4472856-7249-4F5A-A217-374C8940F6F1}" srcId="{80EF6AE4-DCAC-47DB-B597-BF8477634DB0}" destId="{C7503BE8-650B-4B7D-85BD-DF971D1944C5}" srcOrd="3" destOrd="0" parTransId="{AB0D38F0-7511-4465-83CC-1EBF0D57D525}" sibTransId="{6C4D6073-3516-4572-8D4E-778892635C6A}"/>
    <dgm:cxn modelId="{C0C4EA56-AA9A-40D6-835F-4A72F3D8591D}" srcId="{80EF6AE4-DCAC-47DB-B597-BF8477634DB0}" destId="{5D49D6C3-B376-4F96-9989-8E4A3CC1710C}" srcOrd="1" destOrd="0" parTransId="{61C9F6A6-BE3C-4091-AA17-923F5AB5AF81}" sibTransId="{96FF7109-D162-4FC0-BE6B-B9BE2895B301}"/>
    <dgm:cxn modelId="{7FD7DF79-61E9-4D0F-81AE-541E0044FB13}" srcId="{026CFAE6-763C-48F2-9C05-1F8C599FE9F6}" destId="{86CB57A3-1ED8-44E4-B7A9-3A53F474BAD6}" srcOrd="0" destOrd="0" parTransId="{676DD718-CB58-4E36-8056-FED06BF50653}" sibTransId="{A7DA2F71-3634-405E-866F-9A52AF6980C3}"/>
    <dgm:cxn modelId="{69A20289-A8F3-4B87-9B4D-D2A42706537A}" srcId="{5D49D6C3-B376-4F96-9989-8E4A3CC1710C}" destId="{619B8167-8627-4CE7-8065-DB89289C012A}" srcOrd="2" destOrd="0" parTransId="{4D5EE0B0-4858-4653-B613-46F0DE84A5DF}" sibTransId="{1A204F37-FBAC-49D7-8810-855CEB55EE47}"/>
    <dgm:cxn modelId="{3D7F8590-014D-4210-872F-A4196799B31F}" type="presOf" srcId="{C7503BE8-650B-4B7D-85BD-DF971D1944C5}" destId="{1C30B721-B655-4564-B24E-D7B4B66CFABB}" srcOrd="1" destOrd="0" presId="urn:microsoft.com/office/officeart/2005/8/layout/list1"/>
    <dgm:cxn modelId="{7FCBD1A1-C246-4640-BE16-88D0FB9E194C}" srcId="{5D49D6C3-B376-4F96-9989-8E4A3CC1710C}" destId="{AF57AF8E-2687-40BA-96AA-B94B887A164B}" srcOrd="1" destOrd="0" parTransId="{DA64A3C1-2A53-4597-8649-6521515A6625}" sibTransId="{3C6895FF-76DB-4DC8-9C4A-2A20AB2ECC17}"/>
    <dgm:cxn modelId="{0601D0A8-CC41-418F-9C31-6C87ECA962AE}" srcId="{C7503BE8-650B-4B7D-85BD-DF971D1944C5}" destId="{74A3777D-13EE-4E70-8C52-071BA1F65B58}" srcOrd="1" destOrd="0" parTransId="{402D9B42-E6FC-4A01-9FF3-AF1CC9CF9532}" sibTransId="{EC2C8EA3-77CA-47F6-B227-9C25C3528FDE}"/>
    <dgm:cxn modelId="{0AC537B3-755B-48D6-A8F8-C86182061F70}" srcId="{2B2926C3-4FF2-4C1F-A8A1-45E012CE6C21}" destId="{4D69ECC0-3D68-4F1D-86BB-CC84AD488157}" srcOrd="1" destOrd="0" parTransId="{20760B01-FBAC-4B3D-8A53-2781E667A407}" sibTransId="{95E6E6B8-97FC-432D-BDA4-BD4089A1992C}"/>
    <dgm:cxn modelId="{32ED29CE-CABC-4E33-8887-B776701E7940}" type="presOf" srcId="{5D49D6C3-B376-4F96-9989-8E4A3CC1710C}" destId="{D50D9F98-0F8E-49D8-B4F8-F43840530B1F}" srcOrd="0" destOrd="0" presId="urn:microsoft.com/office/officeart/2005/8/layout/list1"/>
    <dgm:cxn modelId="{CDD111D2-43BC-46CF-90C2-698F7E7C4DA0}" type="presOf" srcId="{74A3777D-13EE-4E70-8C52-071BA1F65B58}" destId="{17285EB1-A2AB-4EB6-9453-FF666BDF5B47}" srcOrd="0" destOrd="1" presId="urn:microsoft.com/office/officeart/2005/8/layout/list1"/>
    <dgm:cxn modelId="{5417B5D5-A55C-447C-BC41-2638B16E5302}" srcId="{2B2926C3-4FF2-4C1F-A8A1-45E012CE6C21}" destId="{B33F3825-37FA-42DD-8A0D-8D5BBCDB36B8}" srcOrd="0" destOrd="0" parTransId="{0886542D-5D71-4E18-8F37-9A045626EFFC}" sibTransId="{BEBB4FD4-8345-4153-AEE5-88D617651B21}"/>
    <dgm:cxn modelId="{05F79DD7-AC13-47C6-9E9F-5EFEECBECF60}" srcId="{C7503BE8-650B-4B7D-85BD-DF971D1944C5}" destId="{B5919118-CB1B-4F4F-81BA-F9A6E103A319}" srcOrd="0" destOrd="0" parTransId="{A90F0615-941E-4618-8157-516BC0084130}" sibTransId="{90266D63-EF17-4523-A685-69B41EC31652}"/>
    <dgm:cxn modelId="{E1A8A3F0-25C3-4F76-8394-56B0FD65E402}" srcId="{80EF6AE4-DCAC-47DB-B597-BF8477634DB0}" destId="{026CFAE6-763C-48F2-9C05-1F8C599FE9F6}" srcOrd="0" destOrd="0" parTransId="{8A426D87-CBBC-4E36-AEB6-5015C41558B1}" sibTransId="{1616063D-799C-4684-B7C2-81155F91E520}"/>
    <dgm:cxn modelId="{1F7C65F5-A9D8-4136-9179-1CBE15E41854}" type="presOf" srcId="{2B2926C3-4FF2-4C1F-A8A1-45E012CE6C21}" destId="{F6DB6333-67EE-4844-AE6C-0B92F3C79583}" srcOrd="1" destOrd="0" presId="urn:microsoft.com/office/officeart/2005/8/layout/list1"/>
    <dgm:cxn modelId="{9FE99DF7-3482-4ABE-B3F0-F192DF38C1F6}" type="presOf" srcId="{B5919118-CB1B-4F4F-81BA-F9A6E103A319}" destId="{17285EB1-A2AB-4EB6-9453-FF666BDF5B47}" srcOrd="0" destOrd="0" presId="urn:microsoft.com/office/officeart/2005/8/layout/list1"/>
    <dgm:cxn modelId="{795D09B9-0BE2-4196-9963-E30C63B7EA53}" type="presParOf" srcId="{489B8A25-C44D-4F12-B3A9-D6FCACB5E380}" destId="{810F1593-01A5-4F2A-A8C1-2C16B0D31E21}" srcOrd="0" destOrd="0" presId="urn:microsoft.com/office/officeart/2005/8/layout/list1"/>
    <dgm:cxn modelId="{F2DA50BE-7EBB-49C9-9F52-18F9EC7E9AE4}" type="presParOf" srcId="{810F1593-01A5-4F2A-A8C1-2C16B0D31E21}" destId="{47C128AD-538B-4236-BF65-98020C733CF2}" srcOrd="0" destOrd="0" presId="urn:microsoft.com/office/officeart/2005/8/layout/list1"/>
    <dgm:cxn modelId="{C11C40E8-9530-40C8-BCF6-D9ECEE0C0796}" type="presParOf" srcId="{810F1593-01A5-4F2A-A8C1-2C16B0D31E21}" destId="{D4200BB8-864F-4500-97A2-4F0A55E3768E}" srcOrd="1" destOrd="0" presId="urn:microsoft.com/office/officeart/2005/8/layout/list1"/>
    <dgm:cxn modelId="{85C9F94A-739E-49FF-A006-5D7F37A25DFD}" type="presParOf" srcId="{489B8A25-C44D-4F12-B3A9-D6FCACB5E380}" destId="{856DA2C6-B45F-4D97-BBD3-25C2157BEBBA}" srcOrd="1" destOrd="0" presId="urn:microsoft.com/office/officeart/2005/8/layout/list1"/>
    <dgm:cxn modelId="{F78B78C3-D614-42BE-AFEF-745DC8AFDC06}" type="presParOf" srcId="{489B8A25-C44D-4F12-B3A9-D6FCACB5E380}" destId="{296E4E9D-768B-49FC-A239-76A451053028}" srcOrd="2" destOrd="0" presId="urn:microsoft.com/office/officeart/2005/8/layout/list1"/>
    <dgm:cxn modelId="{AAE699C6-5540-487A-946D-FFB877A0A6AF}" type="presParOf" srcId="{489B8A25-C44D-4F12-B3A9-D6FCACB5E380}" destId="{C1330F0E-5423-4E3A-BE52-E6EBCD93F566}" srcOrd="3" destOrd="0" presId="urn:microsoft.com/office/officeart/2005/8/layout/list1"/>
    <dgm:cxn modelId="{6F21A912-BB27-49BA-B3C4-83FCD5DBCD8D}" type="presParOf" srcId="{489B8A25-C44D-4F12-B3A9-D6FCACB5E380}" destId="{7A1AB4AE-761C-4362-AB5B-CF04394011C4}" srcOrd="4" destOrd="0" presId="urn:microsoft.com/office/officeart/2005/8/layout/list1"/>
    <dgm:cxn modelId="{EB14CA2A-FCFC-444F-854C-A9EA0285665B}" type="presParOf" srcId="{7A1AB4AE-761C-4362-AB5B-CF04394011C4}" destId="{D50D9F98-0F8E-49D8-B4F8-F43840530B1F}" srcOrd="0" destOrd="0" presId="urn:microsoft.com/office/officeart/2005/8/layout/list1"/>
    <dgm:cxn modelId="{64D48A84-5852-47B5-89FE-1B97D66F807D}" type="presParOf" srcId="{7A1AB4AE-761C-4362-AB5B-CF04394011C4}" destId="{DA8F6A43-9FAF-418F-9F4E-174D40D338B6}" srcOrd="1" destOrd="0" presId="urn:microsoft.com/office/officeart/2005/8/layout/list1"/>
    <dgm:cxn modelId="{43B36B38-8539-4D69-9D0C-71BED2DA34FE}" type="presParOf" srcId="{489B8A25-C44D-4F12-B3A9-D6FCACB5E380}" destId="{EAD86F89-575D-4DB5-8BD9-2FEC3794182C}" srcOrd="5" destOrd="0" presId="urn:microsoft.com/office/officeart/2005/8/layout/list1"/>
    <dgm:cxn modelId="{68833376-22DD-4D9B-BC00-AA50FE9FA3DE}" type="presParOf" srcId="{489B8A25-C44D-4F12-B3A9-D6FCACB5E380}" destId="{E8AF32C9-257A-48F1-BFB1-20C42A0DB8F9}" srcOrd="6" destOrd="0" presId="urn:microsoft.com/office/officeart/2005/8/layout/list1"/>
    <dgm:cxn modelId="{84875FC0-5F00-4E0D-8406-D0DC05EB53FF}" type="presParOf" srcId="{489B8A25-C44D-4F12-B3A9-D6FCACB5E380}" destId="{C36A9329-83D8-452A-97A1-571BE864637D}" srcOrd="7" destOrd="0" presId="urn:microsoft.com/office/officeart/2005/8/layout/list1"/>
    <dgm:cxn modelId="{56521C4A-F82F-45FB-85D6-5CDC923A4B3D}" type="presParOf" srcId="{489B8A25-C44D-4F12-B3A9-D6FCACB5E380}" destId="{E2CF8EDA-FE30-42A2-BC80-6C3BF544D576}" srcOrd="8" destOrd="0" presId="urn:microsoft.com/office/officeart/2005/8/layout/list1"/>
    <dgm:cxn modelId="{F06DCA29-306A-490C-AF1D-4DF2D6155B63}" type="presParOf" srcId="{E2CF8EDA-FE30-42A2-BC80-6C3BF544D576}" destId="{06FA0DA9-C71E-42F9-9F53-09FA1A4C347F}" srcOrd="0" destOrd="0" presId="urn:microsoft.com/office/officeart/2005/8/layout/list1"/>
    <dgm:cxn modelId="{CE50E55C-24FB-49D4-B6F1-1725CFC41805}" type="presParOf" srcId="{E2CF8EDA-FE30-42A2-BC80-6C3BF544D576}" destId="{F6DB6333-67EE-4844-AE6C-0B92F3C79583}" srcOrd="1" destOrd="0" presId="urn:microsoft.com/office/officeart/2005/8/layout/list1"/>
    <dgm:cxn modelId="{F1526EE4-5157-4A59-9A69-1F0406A1EFE3}" type="presParOf" srcId="{489B8A25-C44D-4F12-B3A9-D6FCACB5E380}" destId="{D80083FF-39E4-4358-8521-DC4E275AD332}" srcOrd="9" destOrd="0" presId="urn:microsoft.com/office/officeart/2005/8/layout/list1"/>
    <dgm:cxn modelId="{65A78D98-5734-49CB-970E-244640290D24}" type="presParOf" srcId="{489B8A25-C44D-4F12-B3A9-D6FCACB5E380}" destId="{7407E099-E4F3-42A3-87A7-88A9A5EEE9BD}" srcOrd="10" destOrd="0" presId="urn:microsoft.com/office/officeart/2005/8/layout/list1"/>
    <dgm:cxn modelId="{8D3CB8A0-2860-4B48-B95F-E6AEB49CFEA9}" type="presParOf" srcId="{489B8A25-C44D-4F12-B3A9-D6FCACB5E380}" destId="{C874B615-9A94-41B5-AABE-0582DA4A43BD}" srcOrd="11" destOrd="0" presId="urn:microsoft.com/office/officeart/2005/8/layout/list1"/>
    <dgm:cxn modelId="{426C4EE3-12CD-4E26-9641-13146C3C669D}" type="presParOf" srcId="{489B8A25-C44D-4F12-B3A9-D6FCACB5E380}" destId="{4B704C6A-43E6-465F-9D2C-D50E718E4453}" srcOrd="12" destOrd="0" presId="urn:microsoft.com/office/officeart/2005/8/layout/list1"/>
    <dgm:cxn modelId="{8024593E-E19C-496B-933F-2F50EB167365}" type="presParOf" srcId="{4B704C6A-43E6-465F-9D2C-D50E718E4453}" destId="{FEF9936D-1685-41F8-A246-7CBC272AE247}" srcOrd="0" destOrd="0" presId="urn:microsoft.com/office/officeart/2005/8/layout/list1"/>
    <dgm:cxn modelId="{2A23AC29-C349-496B-A2C2-D1BBBD9DEA1D}" type="presParOf" srcId="{4B704C6A-43E6-465F-9D2C-D50E718E4453}" destId="{1C30B721-B655-4564-B24E-D7B4B66CFABB}" srcOrd="1" destOrd="0" presId="urn:microsoft.com/office/officeart/2005/8/layout/list1"/>
    <dgm:cxn modelId="{87649317-2DD9-456C-90A8-8B354EA54150}" type="presParOf" srcId="{489B8A25-C44D-4F12-B3A9-D6FCACB5E380}" destId="{AA96B03C-003F-4C55-8FE9-2D28C805D098}" srcOrd="13" destOrd="0" presId="urn:microsoft.com/office/officeart/2005/8/layout/list1"/>
    <dgm:cxn modelId="{C5DB47DF-D237-413D-8F45-2FA05D115545}" type="presParOf" srcId="{489B8A25-C44D-4F12-B3A9-D6FCACB5E380}" destId="{17285EB1-A2AB-4EB6-9453-FF666BDF5B4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E4E9D-768B-49FC-A239-76A451053028}">
      <dsp:nvSpPr>
        <dsp:cNvPr id="0" name=""/>
        <dsp:cNvSpPr/>
      </dsp:nvSpPr>
      <dsp:spPr>
        <a:xfrm>
          <a:off x="0" y="329404"/>
          <a:ext cx="6316266" cy="1143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212" tIns="229108" rIns="49021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Islam [1]</a:t>
          </a:r>
          <a:r>
            <a:rPr lang="en-US" sz="1100" kern="1200"/>
            <a:t> found that while 90% of residents face environmental threats, 79% lack the resources to adapt.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Chakma et al. [3]</a:t>
          </a:r>
          <a:r>
            <a:rPr lang="en-US" sz="1100" kern="1200"/>
            <a:t> discovered that salinity intrusion has forced ~30% of locals to abandon traditional professions.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Limitation:</a:t>
          </a:r>
          <a:r>
            <a:rPr lang="en-US" sz="1100" kern="1200"/>
            <a:t> Studies are mostly survey-based and localized.</a:t>
          </a:r>
        </a:p>
      </dsp:txBody>
      <dsp:txXfrm>
        <a:off x="0" y="329404"/>
        <a:ext cx="6316266" cy="1143450"/>
      </dsp:txXfrm>
    </dsp:sp>
    <dsp:sp modelId="{D4200BB8-864F-4500-97A2-4F0A55E3768E}">
      <dsp:nvSpPr>
        <dsp:cNvPr id="0" name=""/>
        <dsp:cNvSpPr/>
      </dsp:nvSpPr>
      <dsp:spPr>
        <a:xfrm>
          <a:off x="315813" y="167044"/>
          <a:ext cx="4421386" cy="324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18" tIns="0" rIns="1671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Socio-Economic Impact</a:t>
          </a:r>
          <a:endParaRPr lang="en-US" sz="1100" kern="1200" dirty="0"/>
        </a:p>
      </dsp:txBody>
      <dsp:txXfrm>
        <a:off x="331665" y="182896"/>
        <a:ext cx="4389682" cy="293016"/>
      </dsp:txXfrm>
    </dsp:sp>
    <dsp:sp modelId="{E8AF32C9-257A-48F1-BFB1-20C42A0DB8F9}">
      <dsp:nvSpPr>
        <dsp:cNvPr id="0" name=""/>
        <dsp:cNvSpPr/>
      </dsp:nvSpPr>
      <dsp:spPr>
        <a:xfrm>
          <a:off x="0" y="1694615"/>
          <a:ext cx="6316266" cy="1143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75307"/>
              <a:satOff val="-5166"/>
              <a:lumOff val="-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212" tIns="229108" rIns="49021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Roy et al. [6]</a:t>
          </a:r>
          <a:r>
            <a:rPr lang="en-US" sz="1100" kern="1200"/>
            <a:t> and </a:t>
          </a:r>
          <a:r>
            <a:rPr lang="en-US" sz="1100" b="1" kern="1200"/>
            <a:t>Enan et al. [2]</a:t>
          </a:r>
          <a:r>
            <a:rPr lang="en-US" sz="1100" kern="1200"/>
            <a:t> successfully mapped forest degradation using optical satellites (Sentinel-2/Landsat).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Wahid et al. [12]</a:t>
          </a:r>
          <a:r>
            <a:rPr lang="en-US" sz="1100" kern="1200"/>
            <a:t> confirmed sharp salinity increases in the central Sundarbans.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Limitation:</a:t>
          </a:r>
          <a:r>
            <a:rPr lang="en-US" sz="1100" kern="1200"/>
            <a:t> </a:t>
          </a:r>
          <a:r>
            <a:rPr lang="en-US" sz="1100" b="1" kern="1200"/>
            <a:t>Shampa et al. [16]</a:t>
          </a:r>
          <a:r>
            <a:rPr lang="en-US" sz="1100" kern="1200"/>
            <a:t> emphasize that these optical sensors are blind during the cloudy monsoon season.</a:t>
          </a:r>
        </a:p>
      </dsp:txBody>
      <dsp:txXfrm>
        <a:off x="0" y="1694615"/>
        <a:ext cx="6316266" cy="1143450"/>
      </dsp:txXfrm>
    </dsp:sp>
    <dsp:sp modelId="{DA8F6A43-9FAF-418F-9F4E-174D40D338B6}">
      <dsp:nvSpPr>
        <dsp:cNvPr id="0" name=""/>
        <dsp:cNvSpPr/>
      </dsp:nvSpPr>
      <dsp:spPr>
        <a:xfrm>
          <a:off x="315813" y="1532254"/>
          <a:ext cx="4421386" cy="324720"/>
        </a:xfrm>
        <a:prstGeom prst="roundRect">
          <a:avLst/>
        </a:prstGeom>
        <a:solidFill>
          <a:schemeClr val="accent2">
            <a:hueOff val="-675307"/>
            <a:satOff val="-5166"/>
            <a:lumOff val="-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18" tIns="0" rIns="1671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Remote Sensing (Physical Monitoring)</a:t>
          </a:r>
          <a:endParaRPr lang="en-US" sz="1100" kern="1200"/>
        </a:p>
      </dsp:txBody>
      <dsp:txXfrm>
        <a:off x="331665" y="1548106"/>
        <a:ext cx="4389682" cy="293016"/>
      </dsp:txXfrm>
    </dsp:sp>
    <dsp:sp modelId="{7407E099-E4F3-42A3-87A7-88A9A5EEE9BD}">
      <dsp:nvSpPr>
        <dsp:cNvPr id="0" name=""/>
        <dsp:cNvSpPr/>
      </dsp:nvSpPr>
      <dsp:spPr>
        <a:xfrm>
          <a:off x="0" y="3059825"/>
          <a:ext cx="6316266" cy="970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350615"/>
              <a:satOff val="-10333"/>
              <a:lumOff val="-1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212" tIns="229108" rIns="49021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Li et al. [14]</a:t>
          </a:r>
          <a:r>
            <a:rPr lang="en-US" sz="1100" kern="1200"/>
            <a:t> and </a:t>
          </a:r>
          <a:r>
            <a:rPr lang="en-US" sz="1100" b="1" kern="1200"/>
            <a:t>Wang et al. [23]</a:t>
          </a:r>
          <a:r>
            <a:rPr lang="en-US" sz="1100" kern="1200"/>
            <a:t> demonstrated that CNNs can effectively integrate diverse environmental data.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Limitation:</a:t>
          </a:r>
          <a:r>
            <a:rPr lang="en-US" sz="1100" kern="1200"/>
            <a:t> </a:t>
          </a:r>
          <a:r>
            <a:rPr lang="en-US" sz="1100" b="1" kern="1200"/>
            <a:t>Chakma &amp; Akter [17]</a:t>
          </a:r>
          <a:r>
            <a:rPr lang="en-US" sz="1100" kern="1200"/>
            <a:t> highlight the "Black Box" problem, where models fail to explain </a:t>
          </a:r>
          <a:r>
            <a:rPr lang="en-US" sz="1100" i="1" kern="1200"/>
            <a:t>why</a:t>
          </a:r>
          <a:r>
            <a:rPr lang="en-US" sz="1100" kern="1200"/>
            <a:t> a flood is predicted.</a:t>
          </a:r>
        </a:p>
      </dsp:txBody>
      <dsp:txXfrm>
        <a:off x="0" y="3059825"/>
        <a:ext cx="6316266" cy="970200"/>
      </dsp:txXfrm>
    </dsp:sp>
    <dsp:sp modelId="{F6DB6333-67EE-4844-AE6C-0B92F3C79583}">
      <dsp:nvSpPr>
        <dsp:cNvPr id="0" name=""/>
        <dsp:cNvSpPr/>
      </dsp:nvSpPr>
      <dsp:spPr>
        <a:xfrm>
          <a:off x="315813" y="2897465"/>
          <a:ext cx="4421386" cy="324720"/>
        </a:xfrm>
        <a:prstGeom prst="roundRect">
          <a:avLst/>
        </a:prstGeom>
        <a:solidFill>
          <a:schemeClr val="accent2">
            <a:hueOff val="-1350615"/>
            <a:satOff val="-10333"/>
            <a:lumOff val="-1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18" tIns="0" rIns="1671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Deep Learning &amp; AI</a:t>
          </a:r>
          <a:endParaRPr lang="en-US" sz="1100" kern="1200"/>
        </a:p>
      </dsp:txBody>
      <dsp:txXfrm>
        <a:off x="331665" y="2913317"/>
        <a:ext cx="4389682" cy="293016"/>
      </dsp:txXfrm>
    </dsp:sp>
    <dsp:sp modelId="{17285EB1-A2AB-4EB6-9453-FF666BDF5B47}">
      <dsp:nvSpPr>
        <dsp:cNvPr id="0" name=""/>
        <dsp:cNvSpPr/>
      </dsp:nvSpPr>
      <dsp:spPr>
        <a:xfrm>
          <a:off x="0" y="4251785"/>
          <a:ext cx="6316266" cy="658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25922"/>
              <a:satOff val="-15499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212" tIns="229108" rIns="49021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Unlike </a:t>
          </a:r>
          <a:r>
            <a:rPr lang="en-US" sz="1100" b="1" kern="1200"/>
            <a:t>Shampa et al. [16]</a:t>
          </a:r>
          <a:r>
            <a:rPr lang="en-US" sz="1100" kern="1200"/>
            <a:t>, we use </a:t>
          </a:r>
          <a:r>
            <a:rPr lang="en-US" sz="1100" b="1" kern="1200"/>
            <a:t>SAR (Radar)</a:t>
          </a:r>
          <a:r>
            <a:rPr lang="en-US" sz="1100" kern="1200"/>
            <a:t> to see through clouds.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We solve the transparency issue using </a:t>
          </a:r>
          <a:r>
            <a:rPr lang="en-US" sz="1100" b="1" kern="1200"/>
            <a:t>Jiang et al.’s [24]</a:t>
          </a:r>
          <a:r>
            <a:rPr lang="en-US" sz="1100" kern="1200"/>
            <a:t> LayerCAM visualization.</a:t>
          </a:r>
        </a:p>
      </dsp:txBody>
      <dsp:txXfrm>
        <a:off x="0" y="4251785"/>
        <a:ext cx="6316266" cy="658349"/>
      </dsp:txXfrm>
    </dsp:sp>
    <dsp:sp modelId="{1C30B721-B655-4564-B24E-D7B4B66CFABB}">
      <dsp:nvSpPr>
        <dsp:cNvPr id="0" name=""/>
        <dsp:cNvSpPr/>
      </dsp:nvSpPr>
      <dsp:spPr>
        <a:xfrm>
          <a:off x="315813" y="4089425"/>
          <a:ext cx="4421386" cy="324720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118" tIns="0" rIns="16711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How We Fill the Gap</a:t>
          </a:r>
          <a:endParaRPr lang="en-US" sz="1100" kern="1200"/>
        </a:p>
      </dsp:txBody>
      <dsp:txXfrm>
        <a:off x="331665" y="4105277"/>
        <a:ext cx="4389682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641AD-21F8-4A93-A6D9-569866290A88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F84A5-A0A7-49E9-B2F1-648999F18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71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F8BE5B84-0410-3AFE-6CF2-BD998D74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:notes">
            <a:extLst>
              <a:ext uri="{FF2B5EF4-FFF2-40B4-BE49-F238E27FC236}">
                <a16:creationId xmlns:a16="http://schemas.microsoft.com/office/drawing/2014/main" id="{86FEA2E9-F183-D8FE-0CA1-5D80918CD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2:notes">
            <a:extLst>
              <a:ext uri="{FF2B5EF4-FFF2-40B4-BE49-F238E27FC236}">
                <a16:creationId xmlns:a16="http://schemas.microsoft.com/office/drawing/2014/main" id="{65D7D78E-A7FE-BB19-9214-D342673D1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I’d like to start by introducing our focus area: the Sundarbans. As many of you know, this is the largest mangrove forest in the world and acts as a crucial shield for our country, protecting millions from devastating cyclones. It is also the economic backbone for the local population. However, this ecosystem is currently facing a crisis due to rising salinity and climate change. Our research was motivated by the urgent need to monitor this decline more effectively using advanced AI, which I will explain shortly.</a:t>
            </a:r>
            <a:endParaRPr dirty="0"/>
          </a:p>
        </p:txBody>
      </p:sp>
      <p:sp>
        <p:nvSpPr>
          <p:cNvPr id="231" name="Google Shape;231;p2:notes">
            <a:extLst>
              <a:ext uri="{FF2B5EF4-FFF2-40B4-BE49-F238E27FC236}">
                <a16:creationId xmlns:a16="http://schemas.microsoft.com/office/drawing/2014/main" id="{8AE53655-1D20-4B1E-9360-6B5EBF6A18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897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6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705B-B106-BD3A-9734-CDC8A2C29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FF520-0ABE-D3FF-BB2E-88712704B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E92A9-EBC7-0AB0-D17D-A2D6D901F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29C54-086F-25B6-523E-A568A3128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09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5E3E-2F91-619E-86CA-08CD6928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C9165-3C5B-4516-5CF0-70E8F4356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414E9-312B-B75C-EEC3-9026197A1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969DA-29B2-1592-F2C2-CB8B013C8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24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4ABC-645B-0BC2-D0E5-40D904B6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FA4F6-84D0-F88E-F731-D7DB0FDCD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CD5AC-B540-2B04-FC4A-D43751A6D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ABCBF-8394-FFB6-C11E-50ED380FE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4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BE49-4279-E580-9697-1014DB0A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BCC4C-77F9-9916-E6D6-3A44A9F09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E2E5F-8AA8-DADC-72FB-B735A00F9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CECF4-105B-AE34-853F-34B2DBE81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79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FF94-0452-3E0E-3BC1-B158344F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CF542-AC28-6C2E-2915-32F12F4E9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5DD8F-7F99-6DCF-49EE-6A325C5F0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750FC-70B1-BC93-7AB0-71847CCA7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53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2576-A4BD-72B3-10B5-583212AE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C491E-DD66-2B71-63D4-E9E604AB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DBF64-CF38-B13A-8B2E-602D35B30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4D901-F387-71F2-8571-BE0E31E0C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52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C873-6D95-43E8-D0C3-7762D891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9B9CC-45DD-EB56-B687-5DDD4EF78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C3495-682C-1B24-0C6C-2448E4712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517C1-06F2-0590-0909-4E2FACE26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12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F3EB-74E3-142B-1310-C1355DBD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98F4C-4E39-7CF5-D06A-30DF5A112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45129-DD1B-2F47-FC77-D5AA68965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98C33-516B-55AA-7310-9A52C881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15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9E75-074E-54F5-F943-59EDE268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6DD4A-8A6E-CA33-806E-0212DAEFD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0A5EEA-5453-59E3-12E1-4309A6C56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related works we can see significant gaps remain in the current literature.</a:t>
            </a:r>
          </a:p>
          <a:p>
            <a:r>
              <a:rPr lang="en-US" b="1" dirty="0"/>
              <a:t>First, we have standard CNNs</a:t>
            </a:r>
            <a:r>
              <a:rPr lang="en-US" dirty="0"/>
              <a:t> like </a:t>
            </a:r>
            <a:r>
              <a:rPr lang="en-US" dirty="0" err="1"/>
              <a:t>ResNet</a:t>
            </a:r>
            <a:r>
              <a:rPr lang="en-US" dirty="0"/>
              <a:t> and VGG. While papers by Rafiq and others show they achieve high internal accuracy, they often fail to </a:t>
            </a:r>
            <a:r>
              <a:rPr lang="en-US" b="1" dirty="0"/>
              <a:t>generalize</a:t>
            </a:r>
            <a:r>
              <a:rPr lang="en-US" dirty="0"/>
              <a:t> when tested on new data.</a:t>
            </a:r>
          </a:p>
          <a:p>
            <a:r>
              <a:rPr lang="en-US" b="1" dirty="0"/>
              <a:t>Second, we have Vision Transformers.</a:t>
            </a:r>
            <a:r>
              <a:rPr lang="en-US" dirty="0"/>
              <a:t> As Gella and others demonstrated that these are powerful, but they are incredibly </a:t>
            </a:r>
            <a:r>
              <a:rPr lang="en-US" b="1" dirty="0"/>
              <a:t>data-hungry and computationally expensive</a:t>
            </a:r>
            <a:r>
              <a:rPr lang="en-US" dirty="0"/>
              <a:t>, making them difficult to deploy in clinical settings.</a:t>
            </a:r>
          </a:p>
          <a:p>
            <a:r>
              <a:rPr lang="en-US" b="1" dirty="0"/>
              <a:t>Finally, existing hybrid models</a:t>
            </a:r>
            <a:r>
              <a:rPr lang="en-US" dirty="0"/>
              <a:t> often skip the hardest test: that is </a:t>
            </a:r>
            <a:r>
              <a:rPr lang="en-US" b="1" dirty="0"/>
              <a:t>external validation</a:t>
            </a:r>
            <a:r>
              <a:rPr lang="en-US" dirty="0"/>
              <a:t>.</a:t>
            </a:r>
          </a:p>
          <a:p>
            <a:r>
              <a:rPr lang="en-US" b="1" dirty="0"/>
              <a:t>This leaves a clear Unsolved Gap:</a:t>
            </a:r>
            <a:r>
              <a:rPr lang="en-US" dirty="0"/>
              <a:t> The field is flooded with papers focusing on 'Lab Metrics.' What is missing is a single framework that is simultaneously </a:t>
            </a:r>
            <a:r>
              <a:rPr lang="en-US" b="1" dirty="0"/>
              <a:t>Accurate</a:t>
            </a:r>
            <a:r>
              <a:rPr lang="en-US" dirty="0"/>
              <a:t>, </a:t>
            </a:r>
            <a:r>
              <a:rPr lang="en-US" b="1" dirty="0"/>
              <a:t>Generalizable</a:t>
            </a:r>
            <a:r>
              <a:rPr lang="en-US" dirty="0"/>
              <a:t> to new hospitals, and </a:t>
            </a:r>
            <a:r>
              <a:rPr lang="en-US" b="1" dirty="0"/>
              <a:t>Explainable</a:t>
            </a:r>
            <a:r>
              <a:rPr lang="en-US" dirty="0"/>
              <a:t> to doctors. That is the specific gap that our work addresses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67C8E-6CC0-8DA4-28E2-C4264F69A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03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have successfully developed </a:t>
            </a:r>
            <a:r>
              <a:rPr lang="en-US" b="1" dirty="0" err="1"/>
              <a:t>TriFuse-xNet</a:t>
            </a:r>
            <a:r>
              <a:rPr lang="en-US" dirty="0"/>
              <a:t>, a hybrid framework that bridges the gap between lab accuracy and clinical utility. We proved that by fusing complementary features, we can achieve superior </a:t>
            </a:r>
            <a:r>
              <a:rPr lang="en-US" b="1" dirty="0"/>
              <a:t>robustness</a:t>
            </a:r>
            <a:r>
              <a:rPr lang="en-US" dirty="0"/>
              <a:t> on unseen data while maintaining </a:t>
            </a:r>
            <a:r>
              <a:rPr lang="en-US" b="1" dirty="0"/>
              <a:t>transparency</a:t>
            </a:r>
            <a:r>
              <a:rPr lang="en-US" dirty="0"/>
              <a:t> through XAI. Our next step is to scale this architecture to handle </a:t>
            </a:r>
            <a:r>
              <a:rPr lang="en-US" b="1" dirty="0"/>
              <a:t>Whole Slide Images</a:t>
            </a:r>
            <a:r>
              <a:rPr lang="en-US" dirty="0"/>
              <a:t> and integrate </a:t>
            </a:r>
            <a:r>
              <a:rPr lang="en-US" b="1" dirty="0"/>
              <a:t>Vision Transformers</a:t>
            </a:r>
            <a:r>
              <a:rPr lang="en-US" dirty="0"/>
              <a:t>, moving us one step closer to an AI assistant that clinicians can fully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31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5BB4-8AFF-5670-982A-AFE4E948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100F2-1E34-2917-7140-F710089AC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9ABEF-3E7D-7F9B-CB76-C5E92D89C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have successfully developed </a:t>
            </a:r>
            <a:r>
              <a:rPr lang="en-US" b="1" dirty="0" err="1"/>
              <a:t>TriFuse-xNet</a:t>
            </a:r>
            <a:r>
              <a:rPr lang="en-US" dirty="0"/>
              <a:t>, a hybrid framework that bridges the gap between lab accuracy and clinical utility. We proved that by fusing complementary features, we can achieve superior </a:t>
            </a:r>
            <a:r>
              <a:rPr lang="en-US" b="1" dirty="0"/>
              <a:t>robustness</a:t>
            </a:r>
            <a:r>
              <a:rPr lang="en-US" dirty="0"/>
              <a:t> on unseen data while maintaining </a:t>
            </a:r>
            <a:r>
              <a:rPr lang="en-US" b="1" dirty="0"/>
              <a:t>transparency</a:t>
            </a:r>
            <a:r>
              <a:rPr lang="en-US" dirty="0"/>
              <a:t> through XAI. Our next step is to scale this architecture to handle </a:t>
            </a:r>
            <a:r>
              <a:rPr lang="en-US" b="1" dirty="0"/>
              <a:t>Whole Slide Images</a:t>
            </a:r>
            <a:r>
              <a:rPr lang="en-US" dirty="0"/>
              <a:t> and integrate </a:t>
            </a:r>
            <a:r>
              <a:rPr lang="en-US" b="1" dirty="0"/>
              <a:t>Vision Transformers</a:t>
            </a:r>
            <a:r>
              <a:rPr lang="en-US" dirty="0"/>
              <a:t>, moving us one step closer to an AI assistant that clinicians can fully trust.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AD86-347F-35D4-21B7-9ACAD2A06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82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84A5-A0A7-49E9-B2F1-648999F180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4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359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13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8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7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43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848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3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54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7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953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6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F7805641-F05E-A105-6D39-950D66BD2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720" y="2295263"/>
            <a:ext cx="7335835" cy="795831"/>
          </a:xfr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r>
              <a:rPr lang="en-US" cap="none" dirty="0"/>
              <a:t>Course Name: </a:t>
            </a:r>
            <a:r>
              <a:rPr lang="en-US" dirty="0"/>
              <a:t>Computer Science Applications and Advancements</a:t>
            </a:r>
            <a:endParaRPr lang="en-US" cap="none" dirty="0"/>
          </a:p>
          <a:p>
            <a:r>
              <a:rPr lang="en-US" cap="none" dirty="0"/>
              <a:t>Faculty: </a:t>
            </a:r>
            <a:r>
              <a:rPr lang="en-US" dirty="0"/>
              <a:t>Dr. Muhammad </a:t>
            </a:r>
            <a:r>
              <a:rPr lang="en-US" dirty="0" err="1"/>
              <a:t>Hasibur</a:t>
            </a:r>
            <a:r>
              <a:rPr lang="en-US" dirty="0"/>
              <a:t> Rashid Chayon</a:t>
            </a:r>
            <a:endParaRPr lang="en-US" cap="none" dirty="0"/>
          </a:p>
        </p:txBody>
      </p:sp>
      <p:pic>
        <p:nvPicPr>
          <p:cNvPr id="4" name="Picture 4" descr="Faculty of Engineering | AIUB">
            <a:extLst>
              <a:ext uri="{FF2B5EF4-FFF2-40B4-BE49-F238E27FC236}">
                <a16:creationId xmlns:a16="http://schemas.microsoft.com/office/drawing/2014/main" id="{509F2F34-7E3D-9648-ACD5-B7752E72A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46416" y="594933"/>
            <a:ext cx="1474623" cy="14668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A58F28-1204-B14E-A3CB-D6EAC4FC8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764EA9-1018-4444-A261-71613078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5D51C7DA-5177-5144-984B-00F10F561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4B12F2B7-1732-7B44-A39D-5F2EBDE40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E3C016CB-983A-A949-9D9F-D5C818C7E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4">
              <a:extLst>
                <a:ext uri="{FF2B5EF4-FFF2-40B4-BE49-F238E27FC236}">
                  <a16:creationId xmlns:a16="http://schemas.microsoft.com/office/drawing/2014/main" id="{D5187172-558E-D84E-899F-EB162C03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5">
              <a:extLst>
                <a:ext uri="{FF2B5EF4-FFF2-40B4-BE49-F238E27FC236}">
                  <a16:creationId xmlns:a16="http://schemas.microsoft.com/office/drawing/2014/main" id="{39DD5291-E906-9B41-A0DD-C8B79F985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6">
              <a:extLst>
                <a:ext uri="{FF2B5EF4-FFF2-40B4-BE49-F238E27FC236}">
                  <a16:creationId xmlns:a16="http://schemas.microsoft.com/office/drawing/2014/main" id="{5221D107-563F-9147-B04E-A54D4D4CB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207A66C4-9B3B-5B48-7F87-C6432F54B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3831" y="768335"/>
            <a:ext cx="7715524" cy="1293418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2800" dirty="0"/>
              <a:t>SARA-Net: A Multimodal Deep Learning Framework for Flood Risk Assessment in the Sundarbans using SAR Imagery</a:t>
            </a:r>
            <a:endParaRPr lang="en-US" sz="2800" dirty="0"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13" name="Subtitle 4">
            <a:extLst>
              <a:ext uri="{FF2B5EF4-FFF2-40B4-BE49-F238E27FC236}">
                <a16:creationId xmlns:a16="http://schemas.microsoft.com/office/drawing/2014/main" id="{BA556917-4C59-B15A-AEAC-F1E3097482F5}"/>
              </a:ext>
            </a:extLst>
          </p:cNvPr>
          <p:cNvSpPr txBox="1">
            <a:spLocks/>
          </p:cNvSpPr>
          <p:nvPr/>
        </p:nvSpPr>
        <p:spPr>
          <a:xfrm>
            <a:off x="1803830" y="3409749"/>
            <a:ext cx="7453614" cy="7093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Presented By Group No: G07 </a:t>
            </a: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A5ECAE-9E7D-FA14-5F12-73B0876F9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93743"/>
              </p:ext>
            </p:extLst>
          </p:nvPr>
        </p:nvGraphicFramePr>
        <p:xfrm>
          <a:off x="1937172" y="4058224"/>
          <a:ext cx="7582182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1091">
                  <a:extLst>
                    <a:ext uri="{9D8B030D-6E8A-4147-A177-3AD203B41FA5}">
                      <a16:colId xmlns:a16="http://schemas.microsoft.com/office/drawing/2014/main" val="2073696895"/>
                    </a:ext>
                  </a:extLst>
                </a:gridCol>
                <a:gridCol w="3791091">
                  <a:extLst>
                    <a:ext uri="{9D8B030D-6E8A-4147-A177-3AD203B41FA5}">
                      <a16:colId xmlns:a16="http://schemas.microsoft.com/office/drawing/2014/main" val="704923438"/>
                    </a:ext>
                  </a:extLst>
                </a:gridCol>
              </a:tblGrid>
              <a:tr h="3244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637835"/>
                  </a:ext>
                </a:extLst>
              </a:tr>
              <a:tr h="3244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</a:rPr>
                        <a:t>Asmaul Hossain Akash</a:t>
                      </a:r>
                      <a:endParaRPr lang="en-US" dirty="0"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25-93883-3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022243"/>
                  </a:ext>
                </a:extLst>
              </a:tr>
              <a:tr h="3244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Dolon Akter Mim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25-93</a:t>
                      </a:r>
                      <a:r>
                        <a:rPr lang="en-US" sz="1800" dirty="0"/>
                        <a:t>901</a:t>
                      </a:r>
                      <a:r>
                        <a:rPr lang="en-US" sz="1800" u="none" strike="noStrike" cap="none" dirty="0"/>
                        <a:t>-</a:t>
                      </a:r>
                      <a:r>
                        <a:rPr lang="en-US" sz="1800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090535"/>
                  </a:ext>
                </a:extLst>
              </a:tr>
              <a:tr h="3244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Tazin</a:t>
                      </a:r>
                      <a:r>
                        <a:rPr lang="en-US" sz="1800" dirty="0"/>
                        <a:t> Jannat Bushra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25-938</a:t>
                      </a:r>
                      <a:r>
                        <a:rPr lang="en-US" sz="1800" dirty="0"/>
                        <a:t>77</a:t>
                      </a:r>
                      <a:r>
                        <a:rPr lang="en-US" sz="1800" u="none" strike="noStrike" cap="none" dirty="0"/>
                        <a:t>-3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738751"/>
                  </a:ext>
                </a:extLst>
              </a:tr>
              <a:tr h="3244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Tithi Karmakar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25-93</a:t>
                      </a:r>
                      <a:r>
                        <a:rPr lang="en-US" sz="1800" dirty="0"/>
                        <a:t>876</a:t>
                      </a:r>
                      <a:r>
                        <a:rPr lang="en-US" sz="1800" u="none" strike="noStrike" cap="none" dirty="0"/>
                        <a:t>-</a:t>
                      </a:r>
                      <a:r>
                        <a:rPr lang="en-US" sz="1800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4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91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"/>
          <p:cNvSpPr txBox="1"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List of Contents</a:t>
            </a:r>
            <a:endParaRPr/>
          </a:p>
        </p:txBody>
      </p:sp>
      <p:sp>
        <p:nvSpPr>
          <p:cNvPr id="234" name="Google Shape;234;p2"/>
          <p:cNvSpPr txBox="1"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17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Introduction </a:t>
            </a:r>
            <a:endParaRPr dirty="0"/>
          </a:p>
          <a:p>
            <a:pPr marL="228600" lvl="0" indent="-21717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Background</a:t>
            </a:r>
            <a:endParaRPr dirty="0"/>
          </a:p>
          <a:p>
            <a:pPr marL="228600" lvl="0" indent="-21717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Problem Statement</a:t>
            </a:r>
            <a:endParaRPr dirty="0"/>
          </a:p>
          <a:p>
            <a:pPr marL="228600" lvl="0" indent="-21717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Objective</a:t>
            </a:r>
            <a:endParaRPr dirty="0"/>
          </a:p>
          <a:p>
            <a:pPr marL="228600" lvl="0" indent="-21717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Related Works</a:t>
            </a:r>
            <a:endParaRPr dirty="0"/>
          </a:p>
          <a:p>
            <a:pPr marL="228600" lvl="0" indent="-21717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Methodology</a:t>
            </a:r>
            <a:endParaRPr dirty="0"/>
          </a:p>
          <a:p>
            <a:pPr marL="228600" lvl="0" indent="-21717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Result and Discussion</a:t>
            </a:r>
            <a:endParaRPr dirty="0"/>
          </a:p>
          <a:p>
            <a:pPr marL="228600" lvl="0" indent="-181927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75000"/>
              <a:buChar char="•"/>
            </a:pPr>
            <a:r>
              <a:rPr lang="en-US" dirty="0"/>
              <a:t>Conclusion</a:t>
            </a:r>
            <a:endParaRPr dirty="0"/>
          </a:p>
          <a:p>
            <a:pPr marL="228600" lvl="0" indent="-181927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75000"/>
              <a:buChar char="•"/>
            </a:pPr>
            <a:r>
              <a:rPr lang="en-US" dirty="0"/>
              <a:t>Reference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1668022A-2D93-2300-50A6-48DCECD1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7" name="Rectangle 2076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Google Shape;233;p2">
            <a:extLst>
              <a:ext uri="{FF2B5EF4-FFF2-40B4-BE49-F238E27FC236}">
                <a16:creationId xmlns:a16="http://schemas.microsoft.com/office/drawing/2014/main" id="{1D1CA1DB-2F4B-0E45-E4AF-61C8A1A422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5150" y="560586"/>
            <a:ext cx="5318776" cy="963414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Introduction</a:t>
            </a:r>
          </a:p>
        </p:txBody>
      </p:sp>
      <p:sp>
        <p:nvSpPr>
          <p:cNvPr id="234" name="Google Shape;234;p2">
            <a:extLst>
              <a:ext uri="{FF2B5EF4-FFF2-40B4-BE49-F238E27FC236}">
                <a16:creationId xmlns:a16="http://schemas.microsoft.com/office/drawing/2014/main" id="{49383384-974E-CCD3-4B70-DC6C76A2A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1013" y="1719596"/>
            <a:ext cx="6649267" cy="4575497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800" b="1" dirty="0"/>
              <a:t>Global Significance:</a:t>
            </a:r>
            <a:r>
              <a:rPr lang="en-US" altLang="en-US" sz="1800" dirty="0"/>
              <a:t> World’s largest mangrove forest protecting coastal regions.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800" b="1" dirty="0"/>
              <a:t>Economic Lifeline:</a:t>
            </a:r>
            <a:r>
              <a:rPr lang="en-US" altLang="en-US" sz="1800" dirty="0"/>
              <a:t> Supports livelihoods through fisheries and natural resources.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800" b="1" dirty="0"/>
              <a:t>The Crisis:</a:t>
            </a:r>
            <a:r>
              <a:rPr lang="en-US" altLang="en-US" sz="1800" dirty="0"/>
              <a:t> Climate change and human activities threaten ecosystem balance.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800" b="1" dirty="0"/>
              <a:t>Research Motivation:</a:t>
            </a:r>
            <a:r>
              <a:rPr lang="en-US" altLang="en-US" sz="1800" dirty="0"/>
              <a:t> To address the rapid decline in forest health, our study proposes a novel </a:t>
            </a:r>
            <a:r>
              <a:rPr lang="en-US" altLang="en-US" sz="1800" b="1" dirty="0"/>
              <a:t>Multimodal Data Fusion</a:t>
            </a:r>
            <a:r>
              <a:rPr lang="en-US" altLang="en-US" sz="1800" dirty="0"/>
              <a:t> approach. </a:t>
            </a:r>
            <a:endParaRPr lang="en-US" sz="1800" dirty="0"/>
          </a:p>
        </p:txBody>
      </p:sp>
      <p:cxnSp>
        <p:nvCxnSpPr>
          <p:cNvPr id="2078" name="Straight Connector 2077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1867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9" name="Group 2078">
            <a:extLst>
              <a:ext uri="{FF2B5EF4-FFF2-40B4-BE49-F238E27FC236}">
                <a16:creationId xmlns:a16="http://schemas.microsoft.com/office/drawing/2014/main" id="{BFD251E3-961F-2440-B872-1D2667182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4" y="0"/>
            <a:ext cx="1901687" cy="6858000"/>
            <a:chOff x="10290314" y="0"/>
            <a:chExt cx="1901687" cy="6858000"/>
          </a:xfrm>
        </p:grpSpPr>
        <p:sp>
          <p:nvSpPr>
            <p:cNvPr id="2080" name="Freeform 21">
              <a:extLst>
                <a:ext uri="{FF2B5EF4-FFF2-40B4-BE49-F238E27FC236}">
                  <a16:creationId xmlns:a16="http://schemas.microsoft.com/office/drawing/2014/main" id="{5558ED88-23E3-3941-8644-676CD732E7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1" name="Freeform 22">
              <a:extLst>
                <a:ext uri="{FF2B5EF4-FFF2-40B4-BE49-F238E27FC236}">
                  <a16:creationId xmlns:a16="http://schemas.microsoft.com/office/drawing/2014/main" id="{24B1447F-72DA-384E-9D7D-C33A13EF4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2" name="Freeform 23">
              <a:extLst>
                <a:ext uri="{FF2B5EF4-FFF2-40B4-BE49-F238E27FC236}">
                  <a16:creationId xmlns:a16="http://schemas.microsoft.com/office/drawing/2014/main" id="{86089DDC-F160-E24D-A726-0082953C0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2" name="Freeform 24">
              <a:extLst>
                <a:ext uri="{FF2B5EF4-FFF2-40B4-BE49-F238E27FC236}">
                  <a16:creationId xmlns:a16="http://schemas.microsoft.com/office/drawing/2014/main" id="{1A211FA8-50B3-3C4E-A234-1580EA200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4" name="Freeform 25">
              <a:extLst>
                <a:ext uri="{FF2B5EF4-FFF2-40B4-BE49-F238E27FC236}">
                  <a16:creationId xmlns:a16="http://schemas.microsoft.com/office/drawing/2014/main" id="{6A73788D-F322-0047-BF9E-A8E69D845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5" name="Freeform 26">
              <a:extLst>
                <a:ext uri="{FF2B5EF4-FFF2-40B4-BE49-F238E27FC236}">
                  <a16:creationId xmlns:a16="http://schemas.microsoft.com/office/drawing/2014/main" id="{7E90A8A1-A164-EA41-86BB-166893179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6894343D-4C51-384E-BEC6-1517A940C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4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8A5721-016D-FF89-17CC-D86EA44F2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7" t="1" r="3925" b="1"/>
          <a:stretch>
            <a:fillRect/>
          </a:stretch>
        </p:blipFill>
        <p:spPr bwMode="auto">
          <a:xfrm>
            <a:off x="6968878" y="1130337"/>
            <a:ext cx="4684302" cy="4684302"/>
          </a:xfrm>
          <a:custGeom>
            <a:avLst/>
            <a:gdLst/>
            <a:ahLst/>
            <a:cxnLst/>
            <a:rect l="l" t="t" r="r" b="b"/>
            <a:pathLst>
              <a:path w="5768526" h="5768526">
                <a:moveTo>
                  <a:pt x="2884263" y="0"/>
                </a:moveTo>
                <a:cubicBezTo>
                  <a:pt x="4477197" y="0"/>
                  <a:pt x="5768526" y="1291329"/>
                  <a:pt x="5768526" y="2884263"/>
                </a:cubicBezTo>
                <a:cubicBezTo>
                  <a:pt x="5768526" y="4477197"/>
                  <a:pt x="4477197" y="5768526"/>
                  <a:pt x="2884263" y="5768526"/>
                </a:cubicBezTo>
                <a:cubicBezTo>
                  <a:pt x="1291329" y="5768526"/>
                  <a:pt x="0" y="4477197"/>
                  <a:pt x="0" y="2884263"/>
                </a:cubicBezTo>
                <a:cubicBezTo>
                  <a:pt x="0" y="1291329"/>
                  <a:pt x="1291329" y="0"/>
                  <a:pt x="28842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00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9" name="Group 3138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3140" name="Oval 3139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1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2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3" name="Oval 3142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4" name="Oval 3143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5" name="Oval 3144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6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7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8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9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50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51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52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54" name="Straight Connector 3153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56" name="Rectangle 3155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468D4-BCCB-B630-88EC-AE0E0D8B1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70890"/>
            <a:ext cx="6400999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Background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559B8D-E0C5-90B1-BF57-1BB0151D661D}"/>
              </a:ext>
            </a:extLst>
          </p:cNvPr>
          <p:cNvSpPr txBox="1">
            <a:spLocks/>
          </p:cNvSpPr>
          <p:nvPr/>
        </p:nvSpPr>
        <p:spPr>
          <a:xfrm>
            <a:off x="573824" y="1931731"/>
            <a:ext cx="6400999" cy="38269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28600">
              <a:lnSpc>
                <a:spcPct val="150000"/>
              </a:lnSpc>
              <a:spcBef>
                <a:spcPts val="900"/>
              </a:spcBef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Ecological Context</a:t>
            </a:r>
            <a:r>
              <a:rPr lang="en-US" sz="1800" b="0" dirty="0">
                <a:latin typeface="+mn-lt"/>
                <a:ea typeface="+mn-ea"/>
                <a:cs typeface="+mn-cs"/>
              </a:rPr>
              <a:t>: World’s largest mangrove forest providing critical protection against cyclones.</a:t>
            </a:r>
          </a:p>
          <a:p>
            <a:pPr marL="285750" lvl="0" indent="-228600">
              <a:lnSpc>
                <a:spcPct val="150000"/>
              </a:lnSpc>
              <a:spcBef>
                <a:spcPts val="900"/>
              </a:spcBef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The Crisis</a:t>
            </a:r>
            <a:r>
              <a:rPr lang="en-US" sz="1800" b="0" dirty="0">
                <a:latin typeface="+mn-lt"/>
                <a:ea typeface="+mn-ea"/>
                <a:cs typeface="+mn-cs"/>
              </a:rPr>
              <a:t>: Threatened by salinity intrusion, sea-level rise, and irregular rainfall.</a:t>
            </a:r>
          </a:p>
          <a:p>
            <a:pPr marL="285750" lvl="0" indent="-228600">
              <a:lnSpc>
                <a:spcPct val="150000"/>
              </a:lnSpc>
              <a:spcBef>
                <a:spcPts val="900"/>
              </a:spcBef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Socio-Economic Impact</a:t>
            </a:r>
            <a:r>
              <a:rPr lang="en-US" sz="1800" b="0" dirty="0">
                <a:latin typeface="+mn-lt"/>
                <a:ea typeface="+mn-ea"/>
                <a:cs typeface="+mn-cs"/>
              </a:rPr>
              <a:t>: Soil degradation is driving shifts from agriculture to shrimp farming.</a:t>
            </a:r>
          </a:p>
          <a:p>
            <a:pPr marL="285750" lvl="0" indent="-228600">
              <a:lnSpc>
                <a:spcPct val="150000"/>
              </a:lnSpc>
              <a:spcBef>
                <a:spcPts val="900"/>
              </a:spcBef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The Gap</a:t>
            </a:r>
            <a:r>
              <a:rPr lang="en-US" sz="1800" b="0" dirty="0">
                <a:latin typeface="+mn-lt"/>
                <a:ea typeface="+mn-ea"/>
                <a:cs typeface="+mn-cs"/>
              </a:rPr>
              <a:t>: Existing monitoring methods are limited due to cloud-affected optical data and lack of integrated analysis.</a:t>
            </a:r>
            <a:endParaRPr lang="en-US" sz="1800" b="0" dirty="0">
              <a:latin typeface="+mn-lt"/>
              <a:ea typeface="+mn-ea"/>
              <a:cs typeface="+mn-cs"/>
              <a:sym typeface="Arial"/>
            </a:endParaRPr>
          </a:p>
        </p:txBody>
      </p:sp>
      <p:grpSp>
        <p:nvGrpSpPr>
          <p:cNvPr id="3158" name="Group 3157">
            <a:extLst>
              <a:ext uri="{FF2B5EF4-FFF2-40B4-BE49-F238E27FC236}">
                <a16:creationId xmlns:a16="http://schemas.microsoft.com/office/drawing/2014/main" id="{2ACBB827-9A2D-D449-9686-F47D2A20E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59" name="Freeform 21">
              <a:extLst>
                <a:ext uri="{FF2B5EF4-FFF2-40B4-BE49-F238E27FC236}">
                  <a16:creationId xmlns:a16="http://schemas.microsoft.com/office/drawing/2014/main" id="{9B921EC8-AD62-E940-80A2-682AC710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60" name="Freeform 23">
              <a:extLst>
                <a:ext uri="{FF2B5EF4-FFF2-40B4-BE49-F238E27FC236}">
                  <a16:creationId xmlns:a16="http://schemas.microsoft.com/office/drawing/2014/main" id="{6DBDC735-9A9C-6340-B1E4-3576B27ED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61" name="Freeform 25">
              <a:extLst>
                <a:ext uri="{FF2B5EF4-FFF2-40B4-BE49-F238E27FC236}">
                  <a16:creationId xmlns:a16="http://schemas.microsoft.com/office/drawing/2014/main" id="{E3F399C2-198A-1347-8B48-1B1D508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62" name="Freeform 26">
              <a:extLst>
                <a:ext uri="{FF2B5EF4-FFF2-40B4-BE49-F238E27FC236}">
                  <a16:creationId xmlns:a16="http://schemas.microsoft.com/office/drawing/2014/main" id="{4AB3593B-CA05-1845-839E-90B9B70EC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1C0C82C-8686-11E5-8CC1-71A0D3691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49" b="1"/>
          <a:stretch>
            <a:fillRect/>
          </a:stretch>
        </p:blipFill>
        <p:spPr>
          <a:xfrm>
            <a:off x="7531299" y="3305815"/>
            <a:ext cx="4044804" cy="2631283"/>
          </a:xfrm>
          <a:prstGeom prst="rect">
            <a:avLst/>
          </a:prstGeom>
        </p:spPr>
      </p:pic>
      <p:cxnSp>
        <p:nvCxnSpPr>
          <p:cNvPr id="3164" name="Straight Connector 316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C42ED9C-9D1D-87D7-C7E7-B388D8B5AC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1" r="13328" b="-1"/>
          <a:stretch>
            <a:fillRect/>
          </a:stretch>
        </p:blipFill>
        <p:spPr>
          <a:xfrm>
            <a:off x="7471488" y="334430"/>
            <a:ext cx="4044804" cy="262263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7B9BC0F-3216-6839-0B39-DD20827FA5A9}"/>
              </a:ext>
            </a:extLst>
          </p:cNvPr>
          <p:cNvSpPr txBox="1">
            <a:spLocks/>
          </p:cNvSpPr>
          <p:nvPr/>
        </p:nvSpPr>
        <p:spPr>
          <a:xfrm>
            <a:off x="7900985" y="3013701"/>
            <a:ext cx="3949552" cy="351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50" b="0" dirty="0"/>
              <a:t>This is what a healthy mangrove area looks like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2860FFF-BD03-8558-F30E-D1C3A4DF1B7E}"/>
              </a:ext>
            </a:extLst>
          </p:cNvPr>
          <p:cNvSpPr txBox="1">
            <a:spLocks/>
          </p:cNvSpPr>
          <p:nvPr/>
        </p:nvSpPr>
        <p:spPr>
          <a:xfrm>
            <a:off x="8133126" y="6007578"/>
            <a:ext cx="3949552" cy="351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50" b="0" dirty="0"/>
              <a:t>Degraded or Shrimp Farming Area</a:t>
            </a:r>
          </a:p>
        </p:txBody>
      </p:sp>
    </p:spTree>
    <p:extLst>
      <p:ext uri="{BB962C8B-B14F-4D97-AF65-F5344CB8AC3E}">
        <p14:creationId xmlns:p14="http://schemas.microsoft.com/office/powerpoint/2010/main" val="88930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7A8B2-E32E-DB5B-AC66-FFF509949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0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149B3A-B6FE-2B9D-6D8E-AED1203F1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7230" y="540632"/>
            <a:ext cx="6795560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6DE7DD-AE62-FD2D-9EF4-18F32B74C830}"/>
              </a:ext>
            </a:extLst>
          </p:cNvPr>
          <p:cNvSpPr txBox="1"/>
          <p:nvPr/>
        </p:nvSpPr>
        <p:spPr>
          <a:xfrm>
            <a:off x="4743180" y="1972557"/>
            <a:ext cx="6795560" cy="37886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The Blind Spot (Cloud Cover</a:t>
            </a:r>
            <a:r>
              <a:rPr lang="en-US" dirty="0"/>
              <a:t>): Traditional optical satellites (e.g., Landsat, Sentinel-2) are ineffective during heavy monsoon clouds.</a:t>
            </a:r>
          </a:p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Disconnected Data</a:t>
            </a:r>
            <a:r>
              <a:rPr lang="en-US" dirty="0"/>
              <a:t>: Environmental factors like salinity or forest loss are studied in isolation.</a:t>
            </a:r>
          </a:p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The What vs. Why Gap</a:t>
            </a:r>
            <a:r>
              <a:rPr lang="en-US" dirty="0"/>
              <a:t>: Satellites show where flooding occurs but not why; weather stations lack visual verification.</a:t>
            </a:r>
          </a:p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Insufficient Monitoring</a:t>
            </a:r>
            <a:r>
              <a:rPr lang="en-US" dirty="0"/>
              <a:t>: Current systems are sporadic, localized, and lack year-round coverage.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DA99BDB-BC88-0C5E-9C8A-DB65574A9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67" r="-4" b="8465"/>
          <a:stretch>
            <a:fillRect/>
          </a:stretch>
        </p:blipFill>
        <p:spPr>
          <a:xfrm>
            <a:off x="830770" y="3518480"/>
            <a:ext cx="3259150" cy="2436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EE6860-EF45-7AF7-6602-246A255CC9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95" r="-4" b="11580"/>
          <a:stretch>
            <a:fillRect/>
          </a:stretch>
        </p:blipFill>
        <p:spPr>
          <a:xfrm>
            <a:off x="830770" y="963917"/>
            <a:ext cx="3258432" cy="2427917"/>
          </a:xfrm>
          <a:prstGeom prst="rect">
            <a:avLst/>
          </a:prstGeom>
        </p:spPr>
      </p:pic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3180" y="6087110"/>
            <a:ext cx="68836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F9F88B2-265A-5D9D-E9B2-C36C2E283822}"/>
              </a:ext>
            </a:extLst>
          </p:cNvPr>
          <p:cNvSpPr txBox="1">
            <a:spLocks/>
          </p:cNvSpPr>
          <p:nvPr/>
        </p:nvSpPr>
        <p:spPr>
          <a:xfrm>
            <a:off x="565150" y="1090563"/>
            <a:ext cx="9817107" cy="4996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26852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90718-E6BE-F292-6A15-C78761E2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4" name="Group 5153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5155" name="Oval 5154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6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57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58" name="Oval 5157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9" name="Oval 5158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0" name="Oval 5159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1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2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3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4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5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6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7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168" name="Straight Connector 5167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69" name="Rectangle 516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7E2CB-9B33-5D3D-D67B-4CA8395AE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70890"/>
            <a:ext cx="5995137" cy="8699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Objective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6BBA0C-0B81-5E7F-9BCC-81961E7E26C0}"/>
              </a:ext>
            </a:extLst>
          </p:cNvPr>
          <p:cNvSpPr txBox="1">
            <a:spLocks/>
          </p:cNvSpPr>
          <p:nvPr/>
        </p:nvSpPr>
        <p:spPr>
          <a:xfrm>
            <a:off x="565150" y="2160016"/>
            <a:ext cx="5995137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33400" lvl="0" indent="-228600">
              <a:lnSpc>
                <a:spcPct val="90000"/>
              </a:lnSpc>
              <a:spcBef>
                <a:spcPts val="90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Develop SARA-Net</a:t>
            </a:r>
            <a:r>
              <a:rPr lang="en-US" sz="2000" b="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: A dual-stream model that fuses Visual and Textual data. </a:t>
            </a:r>
          </a:p>
          <a:p>
            <a:pPr marL="533400" lvl="0" indent="-228600">
              <a:lnSpc>
                <a:spcPct val="90000"/>
              </a:lnSpc>
              <a:spcBef>
                <a:spcPts val="90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Dataset Creation</a:t>
            </a:r>
            <a:r>
              <a:rPr lang="en-US" sz="2000" b="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: To construct a multimodal dataset spanning 2014–2025 for </a:t>
            </a:r>
            <a:r>
              <a:rPr lang="en-US" sz="2000" b="0" dirty="0" err="1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Satkhira</a:t>
            </a:r>
            <a:r>
              <a:rPr lang="en-US" sz="2000" b="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, Khulna, and Bagerhat. </a:t>
            </a:r>
          </a:p>
          <a:p>
            <a:pPr marL="533400" lvl="0" indent="-228600">
              <a:lnSpc>
                <a:spcPct val="90000"/>
              </a:lnSpc>
              <a:spcBef>
                <a:spcPts val="90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Trend Analysis</a:t>
            </a:r>
            <a:r>
              <a:rPr lang="en-US" sz="2000" b="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: To analyze a 12-year risk profile to identify vulnerable zones. </a:t>
            </a:r>
          </a:p>
          <a:p>
            <a:pPr marL="533400" lvl="0" indent="-228600">
              <a:lnSpc>
                <a:spcPct val="90000"/>
              </a:lnSpc>
              <a:spcBef>
                <a:spcPts val="900"/>
              </a:spcBef>
              <a:buSzPts val="1600"/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Explainability</a:t>
            </a:r>
            <a:r>
              <a:rPr lang="en-US" sz="2000" b="0" dirty="0">
                <a:highlight>
                  <a:srgbClr val="FFFFFF"/>
                </a:highlight>
                <a:latin typeface="Google Sans Text"/>
                <a:ea typeface="+mn-ea"/>
                <a:cs typeface="+mn-cs"/>
              </a:rPr>
              <a:t>: To use X-AI to visualize exactly where the model looks when predicting floods. </a:t>
            </a:r>
          </a:p>
          <a:p>
            <a:pPr marL="514350" lvl="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sz="2000" b="0" dirty="0">
              <a:latin typeface="Google Sans Text"/>
              <a:ea typeface="+mn-ea"/>
              <a:cs typeface="+mn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43454E4-6D60-08A9-CA51-6FF1324AA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2374" y="2213834"/>
            <a:ext cx="4901120" cy="267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70" name="Group 5169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5171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72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73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74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175" name="Straight Connector 5174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50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A2D77-58DE-1854-E088-53A299B9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A7265-A0BA-6426-BF15-69A36C946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366" y="280213"/>
            <a:ext cx="3608387" cy="56514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/>
              <a:t>Related Work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77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054E6E43-775C-075F-658C-7FFFA950AEF0}"/>
              </a:ext>
            </a:extLst>
          </p:cNvPr>
          <p:cNvSpPr txBox="1">
            <a:spLocks/>
          </p:cNvSpPr>
          <p:nvPr/>
        </p:nvSpPr>
        <p:spPr>
          <a:xfrm>
            <a:off x="565150" y="1090563"/>
            <a:ext cx="9817107" cy="4996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graphicFrame>
        <p:nvGraphicFramePr>
          <p:cNvPr id="53" name="TextBox 3">
            <a:extLst>
              <a:ext uri="{FF2B5EF4-FFF2-40B4-BE49-F238E27FC236}">
                <a16:creationId xmlns:a16="http://schemas.microsoft.com/office/drawing/2014/main" id="{009ECE36-1BD1-D11D-8E74-7F58AF8367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946407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BAAA18-5FCF-D095-730E-84E9AD315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52635"/>
              </p:ext>
            </p:extLst>
          </p:nvPr>
        </p:nvGraphicFramePr>
        <p:xfrm>
          <a:off x="512209" y="1891344"/>
          <a:ext cx="4376118" cy="331110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58706">
                  <a:extLst>
                    <a:ext uri="{9D8B030D-6E8A-4147-A177-3AD203B41FA5}">
                      <a16:colId xmlns:a16="http://schemas.microsoft.com/office/drawing/2014/main" val="3413935649"/>
                    </a:ext>
                  </a:extLst>
                </a:gridCol>
                <a:gridCol w="1458706">
                  <a:extLst>
                    <a:ext uri="{9D8B030D-6E8A-4147-A177-3AD203B41FA5}">
                      <a16:colId xmlns:a16="http://schemas.microsoft.com/office/drawing/2014/main" val="1204147997"/>
                    </a:ext>
                  </a:extLst>
                </a:gridCol>
                <a:gridCol w="1458706">
                  <a:extLst>
                    <a:ext uri="{9D8B030D-6E8A-4147-A177-3AD203B41FA5}">
                      <a16:colId xmlns:a16="http://schemas.microsoft.com/office/drawing/2014/main" val="3910365271"/>
                    </a:ext>
                  </a:extLst>
                </a:gridCol>
              </a:tblGrid>
              <a:tr h="3367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Domain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Key Insight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Critical Gap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extLst>
                  <a:ext uri="{0D108BD9-81ED-4DB2-BD59-A6C34878D82A}">
                    <a16:rowId xmlns:a16="http://schemas.microsoft.com/office/drawing/2014/main" val="3471976549"/>
                  </a:ext>
                </a:extLst>
              </a:tr>
              <a:tr h="9914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Social Studies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Islam [1]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 &amp; 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Chakma et al. [3]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 highlighted the human struggle to adapt.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Small sample sizes; hard to generalize.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extLst>
                  <a:ext uri="{0D108BD9-81ED-4DB2-BD59-A6C34878D82A}">
                    <a16:rowId xmlns:a16="http://schemas.microsoft.com/office/drawing/2014/main" val="3891379949"/>
                  </a:ext>
                </a:extLst>
              </a:tr>
              <a:tr h="9914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Remote Sensing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Roy et al. [6]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mapped forest loss using optical data.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Shampa et al. [16]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note optical failure during cloudy monsoons.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extLst>
                  <a:ext uri="{0D108BD9-81ED-4DB2-BD59-A6C34878D82A}">
                    <a16:rowId xmlns:a16="http://schemas.microsoft.com/office/drawing/2014/main" val="2508947337"/>
                  </a:ext>
                </a:extLst>
              </a:tr>
              <a:tr h="9914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Existing AI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</a:rPr>
                        <a:t>Wang et al. [23]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 automated mangrove mapping.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Chakma &amp; Akter [17]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 note the lack of explainability ("Black Box").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482" marR="105482" marT="70321" marB="70321" anchor="ctr"/>
                </a:tc>
                <a:extLst>
                  <a:ext uri="{0D108BD9-81ED-4DB2-BD59-A6C34878D82A}">
                    <a16:rowId xmlns:a16="http://schemas.microsoft.com/office/drawing/2014/main" val="22813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20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C425A-FAB3-4F2B-A527-C68113D7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8BAE056-4C75-7955-C34B-15AEC5F1D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D962777-F8A0-BB5F-A81E-F55B174E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7B60A856-D4BF-974F-1FA1-64F39A449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5B44904A-E97E-61DD-06E9-66C020A46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DBA8298-8AC3-0F7C-C01A-3E43C665B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78CF751-E3B3-A486-8936-43D1FEB5A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A30F855-B946-68B3-55CE-7CA95A324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4880FB20-DE8C-095D-87B5-D8508E76A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925A560-24EF-BF58-3EFB-1F437EB5D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FF79811F-E240-CB4A-144A-4372B251F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33C3A501-C80B-9E55-994F-306707BD7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7A079A2B-B1AC-AAB9-AA92-9FA9BE38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77DFFD79-CCE3-22E7-C2BD-81CB1A657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F7519EAC-CE96-9939-D85A-4302B8F9C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09C826-EE79-E844-946E-6FA6376E7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D35FF72-F45C-3ABB-F7FE-AAA4D4464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C9589-3F0C-2787-C9E9-D7AC218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573500"/>
            <a:ext cx="10382258" cy="7499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Methodology (Dataset &amp; Preprocessing)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0AA78-1E1B-5157-BA7B-E67C52FD4C65}"/>
              </a:ext>
            </a:extLst>
          </p:cNvPr>
          <p:cNvSpPr txBox="1"/>
          <p:nvPr/>
        </p:nvSpPr>
        <p:spPr>
          <a:xfrm>
            <a:off x="441796" y="1443815"/>
            <a:ext cx="8254592" cy="421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b="1" dirty="0">
              <a:latin typeface="Google Sans Text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C827AC8-02E7-C96D-E861-247D6EA0B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6" name="Freeform 85">
              <a:extLst>
                <a:ext uri="{FF2B5EF4-FFF2-40B4-BE49-F238E27FC236}">
                  <a16:creationId xmlns:a16="http://schemas.microsoft.com/office/drawing/2014/main" id="{922DA0E7-9A53-8F7E-2BDC-28AE897ADE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87">
              <a:extLst>
                <a:ext uri="{FF2B5EF4-FFF2-40B4-BE49-F238E27FC236}">
                  <a16:creationId xmlns:a16="http://schemas.microsoft.com/office/drawing/2014/main" id="{9DD7FE18-4EAB-AB50-7395-286F1949E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89">
              <a:extLst>
                <a:ext uri="{FF2B5EF4-FFF2-40B4-BE49-F238E27FC236}">
                  <a16:creationId xmlns:a16="http://schemas.microsoft.com/office/drawing/2014/main" id="{6F333B1E-FEBD-B8B8-D3EF-FCDE4E4F1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97">
              <a:extLst>
                <a:ext uri="{FF2B5EF4-FFF2-40B4-BE49-F238E27FC236}">
                  <a16:creationId xmlns:a16="http://schemas.microsoft.com/office/drawing/2014/main" id="{5B3E0314-A5EA-8A97-95D5-6CBD146ED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5C1DE22-E38A-B159-5A59-8A44320AA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C8444FBA-728F-CF56-2B35-3846D61775A2}"/>
              </a:ext>
            </a:extLst>
          </p:cNvPr>
          <p:cNvSpPr txBox="1">
            <a:spLocks/>
          </p:cNvSpPr>
          <p:nvPr/>
        </p:nvSpPr>
        <p:spPr>
          <a:xfrm>
            <a:off x="565150" y="1090563"/>
            <a:ext cx="9817107" cy="4996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DD6EA-293D-5AB9-13DE-2615B05C3F4D}"/>
              </a:ext>
            </a:extLst>
          </p:cNvPr>
          <p:cNvSpPr txBox="1"/>
          <p:nvPr/>
        </p:nvSpPr>
        <p:spPr>
          <a:xfrm>
            <a:off x="412009" y="1524528"/>
            <a:ext cx="813123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Multimodal Data Sources</a:t>
            </a:r>
            <a:r>
              <a:rPr lang="en-US" dirty="0">
                <a:latin typeface="Google Sans Text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Visual (Sentinel-1): </a:t>
            </a:r>
            <a:r>
              <a:rPr lang="en-US" dirty="0">
                <a:latin typeface="Google Sans Text"/>
              </a:rPr>
              <a:t>SAR imagery processed into three levels for all-weather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Textual (Climate): </a:t>
            </a:r>
            <a:r>
              <a:rPr lang="en-US" dirty="0">
                <a:latin typeface="Google Sans Text"/>
              </a:rPr>
              <a:t>Synchronized rainfall and river level data from the Climate Simulation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Preprocessing Pipeline: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OCR Timestamping: </a:t>
            </a:r>
            <a:r>
              <a:rPr lang="en-US" dirty="0">
                <a:latin typeface="Google Sans Text"/>
              </a:rPr>
              <a:t>Automated extraction of years from raw SAR image frames.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Spatial Segmentation: </a:t>
            </a:r>
            <a:r>
              <a:rPr lang="en-US" dirty="0">
                <a:latin typeface="Google Sans Text"/>
              </a:rPr>
              <a:t>Images sliced into specific zones: </a:t>
            </a:r>
            <a:r>
              <a:rPr lang="en-US" dirty="0" err="1">
                <a:latin typeface="Google Sans Text"/>
              </a:rPr>
              <a:t>Satkhira</a:t>
            </a:r>
            <a:r>
              <a:rPr lang="en-US" dirty="0">
                <a:latin typeface="Google Sans Text"/>
              </a:rPr>
              <a:t>, Khulna, Bagerhat.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 Text"/>
              </a:rPr>
              <a:t>Total 2325 unique images were created based on regions (775 each).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 Text"/>
              </a:rPr>
              <a:t>Years covered from 2014 to 2025 and mapped with the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Data Augmentation</a:t>
            </a:r>
            <a:r>
              <a:rPr lang="en-US" dirty="0">
                <a:latin typeface="Google Sans Text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 Text"/>
              </a:rPr>
              <a:t>Applied random rotations, horizontal flips, and color jitter to prevent overfitting and ensure the model learns generalized features.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2CFB5A-A4C8-C936-DB8F-4E004B5ED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924" y="2989107"/>
            <a:ext cx="3413735" cy="32858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AB10C2-087F-14B0-B89A-C0DF896E5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388" y="1406658"/>
            <a:ext cx="3104351" cy="137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0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EFEDB-EF9C-D3A2-65C7-82EE3927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5F72800-2262-0E43-B426-D456079C4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4B3E4AB-216A-F3C3-E440-C7627BABB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E7E13DCF-3E45-7A0F-32C9-4D0277C1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09A0121C-DB39-4326-6F10-B299957BD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62E5C59-7754-D08B-6253-247F9FA2FA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88E6D7B-53AD-5D63-101C-F298B2740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7D6638E-578B-EAB8-D628-CC772CA8C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B9B40B68-81D9-CB52-CBB6-5EF4F3AC8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BA5B737E-2157-97B1-C362-3BE5D7598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ACF8452B-98F4-326D-1887-538BBFCF1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CBD6CBA8-4531-B7F0-2249-DBA604400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D3E07B39-295C-1444-5F5D-F92B134B4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75E4AE52-E69F-2F46-CA26-21154FAB9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29EA24B4-44CC-B76D-524E-CA81F8B00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AA7F524-D6C3-2AFB-F661-FEB6B10BB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948CA1C-8161-8032-6909-1CBE0DE53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2B8E2-9C8A-25CA-B7F7-0177F09E6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573500"/>
            <a:ext cx="10382258" cy="7499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Methodology (Architecture)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F8EE5-235D-FCB4-477A-C5AEDCBCE548}"/>
              </a:ext>
            </a:extLst>
          </p:cNvPr>
          <p:cNvSpPr txBox="1"/>
          <p:nvPr/>
        </p:nvSpPr>
        <p:spPr>
          <a:xfrm>
            <a:off x="441796" y="1443815"/>
            <a:ext cx="4789187" cy="421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b="1" dirty="0">
              <a:latin typeface="Google Sans Text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87F7AB-0C0F-40F7-ADB1-55AF160A7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6" name="Freeform 85">
              <a:extLst>
                <a:ext uri="{FF2B5EF4-FFF2-40B4-BE49-F238E27FC236}">
                  <a16:creationId xmlns:a16="http://schemas.microsoft.com/office/drawing/2014/main" id="{6BCE7234-B981-119F-34C7-2BE6DA595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87">
              <a:extLst>
                <a:ext uri="{FF2B5EF4-FFF2-40B4-BE49-F238E27FC236}">
                  <a16:creationId xmlns:a16="http://schemas.microsoft.com/office/drawing/2014/main" id="{1AB7D231-C4D7-B26F-EB20-66664BD04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89">
              <a:extLst>
                <a:ext uri="{FF2B5EF4-FFF2-40B4-BE49-F238E27FC236}">
                  <a16:creationId xmlns:a16="http://schemas.microsoft.com/office/drawing/2014/main" id="{6CDDD228-4FD7-28A6-D5DD-C6C6F7446E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97">
              <a:extLst>
                <a:ext uri="{FF2B5EF4-FFF2-40B4-BE49-F238E27FC236}">
                  <a16:creationId xmlns:a16="http://schemas.microsoft.com/office/drawing/2014/main" id="{93095677-3D8B-A9FC-2A22-F812D4200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72F806-249C-E882-9588-BB5C0D7EB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1D3ACEE-1DBE-7F2A-D41B-F68C4FEB7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95" y="1979916"/>
            <a:ext cx="5071631" cy="35159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6636AF-3CB1-0E28-33B6-D0B370528948}"/>
              </a:ext>
            </a:extLst>
          </p:cNvPr>
          <p:cNvSpPr txBox="1"/>
          <p:nvPr/>
        </p:nvSpPr>
        <p:spPr>
          <a:xfrm>
            <a:off x="5230984" y="1443814"/>
            <a:ext cx="651921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Dual-Stream Design: </a:t>
            </a:r>
            <a:r>
              <a:rPr lang="en-US" dirty="0">
                <a:latin typeface="Google Sans Text"/>
              </a:rPr>
              <a:t>SARA-Net processes data in parallel: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Visual Stream</a:t>
            </a:r>
            <a:r>
              <a:rPr lang="en-US" dirty="0">
                <a:latin typeface="Google Sans Text"/>
              </a:rPr>
              <a:t>: Uses ResNet-18 to extract spatial features from satellite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Climate Stream</a:t>
            </a:r>
            <a:r>
              <a:rPr lang="en-US" dirty="0">
                <a:latin typeface="Google Sans Text"/>
              </a:rPr>
              <a:t>: Uses a Dense MLP to process statistical rainfall and river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Fusion Layer</a:t>
            </a:r>
            <a:r>
              <a:rPr lang="en-US" dirty="0">
                <a:latin typeface="Google Sans Text"/>
              </a:rPr>
              <a:t>: Merges the two streams into a single unified vector.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Output</a:t>
            </a:r>
            <a:r>
              <a:rPr lang="en-US" dirty="0">
                <a:latin typeface="Google Sans Text"/>
              </a:rPr>
              <a:t>: A Sigmoid classifier generates a final probability score (0.0 to 1.0) for flood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Modality Dropout</a:t>
            </a:r>
            <a:r>
              <a:rPr lang="en-US" dirty="0">
                <a:latin typeface="Google Sans Text"/>
              </a:rPr>
              <a:t>: Randomly drops 10% of inputs during training to force the model to learn from both data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Transparency</a:t>
            </a:r>
            <a:r>
              <a:rPr lang="en-US" dirty="0">
                <a:latin typeface="Google Sans Text"/>
              </a:rPr>
              <a:t>: Integrated </a:t>
            </a:r>
            <a:r>
              <a:rPr lang="en-US" dirty="0" err="1">
                <a:latin typeface="Google Sans Text"/>
              </a:rPr>
              <a:t>LayerCAM</a:t>
            </a:r>
            <a:r>
              <a:rPr lang="en-US" dirty="0">
                <a:latin typeface="Google Sans Text"/>
              </a:rPr>
              <a:t> (X-AI) to visualize exactly which pixels drive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64067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1C5FA-C62D-5056-1D64-847BF15A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0EF6070-6123-7977-970C-26A1AFD00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15BA4FF-F04B-F1D5-6421-E1ED2BDCC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0240BE06-7F2F-33F6-A67B-630A6868B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BC2F40C-D0F7-3DC7-7342-9D446B578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680DD87-B3F9-8FEB-88C2-C7496FD9E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F46E114-9851-67A2-6A98-5F7EA62F1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FC08F94-5E49-DAE5-BE9D-C4DDD477B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E35B304B-EAD4-DE4E-EC24-C4FFF516F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8C7E0696-76AE-7405-427E-6E22A761BA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C73F9549-00A9-81EB-955A-F4E37E015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9F9EC987-EB62-3E53-B82A-246D6DDD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E76A2C0-DB0C-0DDB-8696-0175E9558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C0C4EAD9-23FD-2DDB-CEB0-6C1938D3D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1A92DFBE-5086-1E66-96B0-E109B2273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4B9FDD1-0AAD-4226-EF25-850FCAF90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542E426-1F01-57CA-51D3-D0220A97B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39FBE-3C17-078C-C79D-4AD4F1DC9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123835"/>
            <a:ext cx="9026525" cy="7499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" lvl="0">
              <a:spcBef>
                <a:spcPts val="900"/>
              </a:spcBef>
              <a:buClr>
                <a:schemeClr val="dk1"/>
              </a:buClr>
              <a:buSzPct val="100000"/>
            </a:pPr>
            <a:r>
              <a:rPr lang="en-US" sz="4000" dirty="0"/>
              <a:t>Results – Performance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B64B9-6740-E677-1582-4FC6D75BA43E}"/>
              </a:ext>
            </a:extLst>
          </p:cNvPr>
          <p:cNvSpPr txBox="1"/>
          <p:nvPr/>
        </p:nvSpPr>
        <p:spPr>
          <a:xfrm>
            <a:off x="565149" y="1607625"/>
            <a:ext cx="11185054" cy="465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C9F82C-13ED-0A27-187D-0F273E0C7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6" name="Freeform 85">
              <a:extLst>
                <a:ext uri="{FF2B5EF4-FFF2-40B4-BE49-F238E27FC236}">
                  <a16:creationId xmlns:a16="http://schemas.microsoft.com/office/drawing/2014/main" id="{F7903C25-7806-59BD-CF50-EBC65EFC8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87">
              <a:extLst>
                <a:ext uri="{FF2B5EF4-FFF2-40B4-BE49-F238E27FC236}">
                  <a16:creationId xmlns:a16="http://schemas.microsoft.com/office/drawing/2014/main" id="{258CE0FF-A8BB-285E-6E61-FA8C80C6B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89">
              <a:extLst>
                <a:ext uri="{FF2B5EF4-FFF2-40B4-BE49-F238E27FC236}">
                  <a16:creationId xmlns:a16="http://schemas.microsoft.com/office/drawing/2014/main" id="{CEA72D62-45A9-4B6E-9064-726C28A84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97">
              <a:extLst>
                <a:ext uri="{FF2B5EF4-FFF2-40B4-BE49-F238E27FC236}">
                  <a16:creationId xmlns:a16="http://schemas.microsoft.com/office/drawing/2014/main" id="{772A2248-4E53-98E1-885A-FBEF7F4BE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299256-92EB-975F-307C-98AC0515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BE51132-CBDC-4B2A-713C-1234A24AE788}"/>
              </a:ext>
            </a:extLst>
          </p:cNvPr>
          <p:cNvSpPr txBox="1">
            <a:spLocks/>
          </p:cNvSpPr>
          <p:nvPr/>
        </p:nvSpPr>
        <p:spPr>
          <a:xfrm>
            <a:off x="565150" y="1090563"/>
            <a:ext cx="9817107" cy="4996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72152-A51B-3F82-6847-3464C9264220}"/>
              </a:ext>
            </a:extLst>
          </p:cNvPr>
          <p:cNvSpPr txBox="1"/>
          <p:nvPr/>
        </p:nvSpPr>
        <p:spPr>
          <a:xfrm>
            <a:off x="505782" y="2430846"/>
            <a:ext cx="46853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Model Accuracy</a:t>
            </a:r>
            <a:r>
              <a:rPr lang="en-US" dirty="0">
                <a:latin typeface="Google Sans Text"/>
              </a:rPr>
              <a:t>: </a:t>
            </a:r>
            <a:r>
              <a:rPr lang="en-US" b="1" dirty="0">
                <a:latin typeface="Google Sans Text"/>
              </a:rPr>
              <a:t>83.71%  </a:t>
            </a:r>
            <a:r>
              <a:rPr lang="en-US" dirty="0">
                <a:latin typeface="Google Sans Text"/>
              </a:rPr>
              <a:t>accuracy</a:t>
            </a:r>
            <a:r>
              <a:rPr lang="en-US" b="1" dirty="0">
                <a:latin typeface="Google Sans Text"/>
              </a:rPr>
              <a:t> </a:t>
            </a:r>
            <a:r>
              <a:rPr lang="en-US" dirty="0">
                <a:latin typeface="Google Sans Text"/>
              </a:rPr>
              <a:t>was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ROC-AUC Score</a:t>
            </a:r>
            <a:r>
              <a:rPr lang="en-US" dirty="0">
                <a:latin typeface="Google Sans Text"/>
              </a:rPr>
              <a:t>: Reached 0.94, indicating "Safe" and "High Risk"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Key Findings</a:t>
            </a:r>
            <a:r>
              <a:rPr lang="en-US" dirty="0">
                <a:latin typeface="Google Sans Text"/>
              </a:rPr>
              <a:t>: The model is robust and stable, producing very few false alarms compared to traditional single-source methods.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F2F116-A689-CDAE-811B-D4B5BFC3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8" t="1493"/>
          <a:stretch>
            <a:fillRect/>
          </a:stretch>
        </p:blipFill>
        <p:spPr>
          <a:xfrm>
            <a:off x="5423298" y="2170413"/>
            <a:ext cx="6557969" cy="282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10D75-E3F9-D3B3-29B3-5CD4DA61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87F11-4F33-E4FD-FA08-1824101CC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70890"/>
            <a:ext cx="4133559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" lvl="0"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sz="3400"/>
              <a:t>Results – Feature Importance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6CD3A-3A71-7F34-3258-D3659AF4A160}"/>
              </a:ext>
            </a:extLst>
          </p:cNvPr>
          <p:cNvSpPr txBox="1"/>
          <p:nvPr/>
        </p:nvSpPr>
        <p:spPr>
          <a:xfrm>
            <a:off x="565151" y="2160016"/>
            <a:ext cx="4133559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55385-EDB9-9F4E-F601-D3E62A095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8963" y="569162"/>
            <a:ext cx="6430513" cy="236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61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894A6B-1CF4-161D-0578-0AD6C3591916}"/>
              </a:ext>
            </a:extLst>
          </p:cNvPr>
          <p:cNvSpPr txBox="1"/>
          <p:nvPr/>
        </p:nvSpPr>
        <p:spPr>
          <a:xfrm>
            <a:off x="565149" y="1607625"/>
            <a:ext cx="11185054" cy="465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739566-27D6-3661-A08F-935CBB1F04BD}"/>
              </a:ext>
            </a:extLst>
          </p:cNvPr>
          <p:cNvSpPr txBox="1">
            <a:spLocks/>
          </p:cNvSpPr>
          <p:nvPr/>
        </p:nvSpPr>
        <p:spPr>
          <a:xfrm>
            <a:off x="565150" y="1090563"/>
            <a:ext cx="9817107" cy="49965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B0D83D-228F-858C-607E-FE85186B8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549" y="2981922"/>
            <a:ext cx="3486637" cy="297221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D2027E9-ADAF-A871-B853-F14F414DA621}"/>
              </a:ext>
            </a:extLst>
          </p:cNvPr>
          <p:cNvSpPr txBox="1"/>
          <p:nvPr/>
        </p:nvSpPr>
        <p:spPr>
          <a:xfrm>
            <a:off x="454423" y="2838353"/>
            <a:ext cx="62067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The Ablation Test: </a:t>
            </a:r>
            <a:r>
              <a:rPr lang="en-US" dirty="0">
                <a:latin typeface="Google Sans Text"/>
              </a:rPr>
              <a:t>We tested the model by removing inputs one by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Visual Impact (Primary): </a:t>
            </a:r>
            <a:r>
              <a:rPr lang="en-US" dirty="0">
                <a:latin typeface="Google Sans Text"/>
              </a:rPr>
              <a:t>Removing SAR images increased the error significantly (+0.41), proving that satellite imagery is the main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Climate Impact (Secondary)</a:t>
            </a:r>
            <a:r>
              <a:rPr lang="en-US" dirty="0">
                <a:latin typeface="Google Sans Text"/>
              </a:rPr>
              <a:t>: Removing climate data increased the error slightly (+0.04), acting as a crucial refining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Findings: </a:t>
            </a:r>
            <a:r>
              <a:rPr lang="en-US" dirty="0">
                <a:latin typeface="Google Sans Text"/>
              </a:rPr>
              <a:t>The model relies primarily on what it sees (SAR), while using rainfall statistics to confirm the severity.</a:t>
            </a:r>
          </a:p>
        </p:txBody>
      </p:sp>
    </p:spTree>
    <p:extLst>
      <p:ext uri="{BB962C8B-B14F-4D97-AF65-F5344CB8AC3E}">
        <p14:creationId xmlns:p14="http://schemas.microsoft.com/office/powerpoint/2010/main" val="1653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0D250-BEE0-6104-32C0-B71CB185B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931C7719-749B-3976-F9D6-D2E3DDFB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5E5DA1A-306D-7E23-A15B-350F39B89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4324CCC8-DF75-3A4A-B57C-78ECEECBF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EDCF02B8-F922-C30E-4030-A901BFAC5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D76AEFF-3A2D-A581-B5C8-774315F5A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053DC80-8202-F77F-559B-CE8C11D4C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FDE6A42-3992-1101-2454-5076AA6A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AD945005-8B65-BB13-8CCE-EB73CEF9B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30B98794-6654-6675-7D0D-C5F318F1D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D90970E2-4824-1F15-7FA6-866463435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D42A5223-1958-1122-8544-696780D66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7A01D43F-5D44-9D45-E1A9-A4F85F2A4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982DDB90-BC61-E86F-2909-50569F24D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084A6489-F6D8-FE37-53A8-B175B55FD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A64C7B2-7435-4B69-97CD-33AC8B9C0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70F2A53F-BB5F-BF75-B877-C7E5B3094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1FE68-6043-5795-F418-C17CE7401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70890"/>
            <a:ext cx="4835791" cy="12689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L="11430" lvl="0"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sz="3400"/>
              <a:t>Results – </a:t>
            </a:r>
            <a:r>
              <a:rPr lang="en-US" sz="3600"/>
              <a:t>Trend Analysis (2014-2025)</a:t>
            </a:r>
            <a:endParaRPr lang="en-US" sz="3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6CB5D-D01A-31A9-02CF-5B7FAC76432B}"/>
              </a:ext>
            </a:extLst>
          </p:cNvPr>
          <p:cNvSpPr txBox="1"/>
          <p:nvPr/>
        </p:nvSpPr>
        <p:spPr>
          <a:xfrm>
            <a:off x="565151" y="2160016"/>
            <a:ext cx="4133559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EC8AAA1-1755-4B50-E9C9-AA5A71116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61" name="Freeform 85">
              <a:extLst>
                <a:ext uri="{FF2B5EF4-FFF2-40B4-BE49-F238E27FC236}">
                  <a16:creationId xmlns:a16="http://schemas.microsoft.com/office/drawing/2014/main" id="{EA66646B-32DD-D9F9-CA05-52F5C5081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87">
              <a:extLst>
                <a:ext uri="{FF2B5EF4-FFF2-40B4-BE49-F238E27FC236}">
                  <a16:creationId xmlns:a16="http://schemas.microsoft.com/office/drawing/2014/main" id="{BCEAC4D2-EA44-2FFC-E6F3-70372A499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89">
              <a:extLst>
                <a:ext uri="{FF2B5EF4-FFF2-40B4-BE49-F238E27FC236}">
                  <a16:creationId xmlns:a16="http://schemas.microsoft.com/office/drawing/2014/main" id="{2E505D9E-4C43-5B84-6065-0E9FC18DE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97">
              <a:extLst>
                <a:ext uri="{FF2B5EF4-FFF2-40B4-BE49-F238E27FC236}">
                  <a16:creationId xmlns:a16="http://schemas.microsoft.com/office/drawing/2014/main" id="{FE862828-A553-370F-0976-B037B1B69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42980C2-B6F0-B6B5-4128-055E60963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B6CA1B-F5FA-3448-D0A8-DA7B742F0A53}"/>
              </a:ext>
            </a:extLst>
          </p:cNvPr>
          <p:cNvSpPr txBox="1"/>
          <p:nvPr/>
        </p:nvSpPr>
        <p:spPr>
          <a:xfrm>
            <a:off x="565149" y="1607625"/>
            <a:ext cx="11185054" cy="465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19320-FEE7-2848-B4D1-E9DDD4678EE5}"/>
              </a:ext>
            </a:extLst>
          </p:cNvPr>
          <p:cNvSpPr txBox="1"/>
          <p:nvPr/>
        </p:nvSpPr>
        <p:spPr>
          <a:xfrm>
            <a:off x="441797" y="2406591"/>
            <a:ext cx="62067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Rising Threat:</a:t>
            </a:r>
            <a:r>
              <a:rPr lang="en-US" dirty="0">
                <a:latin typeface="Google Sans Text"/>
              </a:rPr>
              <a:t> The 12-year analysis shows that overall flood risk is trending upward across the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Most Vulnerable Zone</a:t>
            </a:r>
            <a:r>
              <a:rPr lang="en-US" dirty="0">
                <a:latin typeface="Google Sans Text"/>
              </a:rPr>
              <a:t>: </a:t>
            </a:r>
            <a:r>
              <a:rPr lang="en-US" dirty="0" err="1">
                <a:latin typeface="Google Sans Text"/>
              </a:rPr>
              <a:t>Satkhira</a:t>
            </a:r>
            <a:r>
              <a:rPr lang="en-US" dirty="0">
                <a:latin typeface="Google Sans Text"/>
              </a:rPr>
              <a:t> consistently shows the highest and most persistent risk (indicated by the Red Line in our graphs).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Event Validation</a:t>
            </a:r>
            <a:r>
              <a:rPr lang="en-US" dirty="0">
                <a:latin typeface="Google Sans Text"/>
              </a:rPr>
              <a:t>: The model correctly identified historical disasters without being explicitly told: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2020</a:t>
            </a:r>
            <a:r>
              <a:rPr lang="en-US" dirty="0">
                <a:latin typeface="Google Sans Text"/>
              </a:rPr>
              <a:t>: Flagged Cyclone Amphan as a major High-Risk event.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2022</a:t>
            </a:r>
            <a:r>
              <a:rPr lang="en-US" dirty="0">
                <a:latin typeface="Google Sans Text"/>
              </a:rPr>
              <a:t>: Detected peak vulnerability across all districts due to record rainfall.</a:t>
            </a: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60708709-8F28-102C-E61B-E4DC61366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516" y="1847443"/>
            <a:ext cx="4965235" cy="316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2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65AEA-0D84-F2D7-C589-0C0811CE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9FF1C5AA-76F1-B346-AA9F-62BA3CDDB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25BE16-1E93-D865-FA79-B0D310868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96DC8278-7FB2-36E0-99AE-E93E46F84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57A2EC0D-0586-C7AE-0331-8469BDD65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D8A7563-72FB-1EF3-F908-B04AA003D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6030207-0220-917D-770A-DAD73614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5ADC20E-343B-A4B6-2877-1733F0444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4FC63684-F8AE-A6FB-AAB3-5DE6A2A62A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A275FA26-50AA-332F-7776-1F102DD2C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BB81585C-712B-E3B2-97C8-5D4E38954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25F29AE8-6A19-E482-18CF-4012AF57C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57DC12EB-E93E-D9E2-DB91-4C813430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941185A3-2BC3-39A0-F6FD-F1E6421B4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4F4D22EB-3514-D489-00B7-1384D1F3B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1CA14D7-B73A-3661-DD4C-1819484E3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06D487F-E7F7-3510-A6F0-B45296799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38272-3AB6-0E7B-CCE1-50080A235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797" y="415551"/>
            <a:ext cx="8689945" cy="12689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" lvl="0"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sz="3400" dirty="0"/>
              <a:t>Results – </a:t>
            </a:r>
            <a:r>
              <a:rPr lang="en-US" sz="3600" dirty="0"/>
              <a:t>Visual Verification (X-AI)</a:t>
            </a:r>
            <a:endParaRPr lang="en-US" sz="3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0829B-18B4-83DA-E9AF-7E7321171DF6}"/>
              </a:ext>
            </a:extLst>
          </p:cNvPr>
          <p:cNvSpPr txBox="1"/>
          <p:nvPr/>
        </p:nvSpPr>
        <p:spPr>
          <a:xfrm>
            <a:off x="565151" y="2160016"/>
            <a:ext cx="4133559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E16BBD-020F-0777-8C2D-46A48AD0C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61" name="Freeform 85">
              <a:extLst>
                <a:ext uri="{FF2B5EF4-FFF2-40B4-BE49-F238E27FC236}">
                  <a16:creationId xmlns:a16="http://schemas.microsoft.com/office/drawing/2014/main" id="{D0892FDC-D409-F4FB-FEEA-C09F59188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87">
              <a:extLst>
                <a:ext uri="{FF2B5EF4-FFF2-40B4-BE49-F238E27FC236}">
                  <a16:creationId xmlns:a16="http://schemas.microsoft.com/office/drawing/2014/main" id="{DB477608-0F1C-737C-4599-4EAA2E72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89">
              <a:extLst>
                <a:ext uri="{FF2B5EF4-FFF2-40B4-BE49-F238E27FC236}">
                  <a16:creationId xmlns:a16="http://schemas.microsoft.com/office/drawing/2014/main" id="{9E040E25-63D9-DE46-91B1-EE745848D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97">
              <a:extLst>
                <a:ext uri="{FF2B5EF4-FFF2-40B4-BE49-F238E27FC236}">
                  <a16:creationId xmlns:a16="http://schemas.microsoft.com/office/drawing/2014/main" id="{A0CEE4FD-725C-F333-B980-2BDB9B135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34B2ECA-4DD7-E1C7-5A11-FD9CAE143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192834-E13F-47CB-7032-2AAC588A4760}"/>
              </a:ext>
            </a:extLst>
          </p:cNvPr>
          <p:cNvSpPr txBox="1"/>
          <p:nvPr/>
        </p:nvSpPr>
        <p:spPr>
          <a:xfrm>
            <a:off x="565149" y="1607625"/>
            <a:ext cx="11185054" cy="465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6D8DB2-199C-3664-EE2F-BED38EF7F095}"/>
              </a:ext>
            </a:extLst>
          </p:cNvPr>
          <p:cNvSpPr txBox="1"/>
          <p:nvPr/>
        </p:nvSpPr>
        <p:spPr>
          <a:xfrm>
            <a:off x="441796" y="1364136"/>
            <a:ext cx="585189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ogle Sans Text"/>
              </a:rPr>
              <a:t>We used </a:t>
            </a:r>
            <a:r>
              <a:rPr lang="en-US" b="1" dirty="0" err="1">
                <a:latin typeface="Google Sans Text"/>
              </a:rPr>
              <a:t>LayerCAM</a:t>
            </a:r>
            <a:r>
              <a:rPr lang="en-US" dirty="0">
                <a:latin typeface="Google Sans Text"/>
              </a:rPr>
              <a:t> heatmaps to verify if the AI understands where the water is.</a:t>
            </a:r>
          </a:p>
          <a:p>
            <a:endParaRPr lang="en-US" dirty="0"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Critical Insight:</a:t>
            </a:r>
            <a:r>
              <a:rPr lang="en-US" dirty="0">
                <a:latin typeface="Google Sans Text"/>
              </a:rPr>
              <a:t> </a:t>
            </a:r>
            <a:r>
              <a:rPr lang="en-US" b="1" dirty="0" err="1">
                <a:latin typeface="Google Sans Text"/>
              </a:rPr>
              <a:t>Satkhira</a:t>
            </a:r>
            <a:r>
              <a:rPr lang="en-US" dirty="0">
                <a:latin typeface="Google Sans Text"/>
              </a:rPr>
              <a:t> was identified as the highest-priority zone for immediate disaster management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Case Study: Bagerhat District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2022 (Worst Case): </a:t>
            </a:r>
            <a:r>
              <a:rPr lang="en-US" dirty="0">
                <a:latin typeface="Google Sans Text"/>
              </a:rPr>
              <a:t>Under extreme rainfall (4506mm), the heatmap shows massive, widespread red zones covering the land.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2025 (Normal): </a:t>
            </a:r>
            <a:r>
              <a:rPr lang="en-US" dirty="0">
                <a:latin typeface="Google Sans Text"/>
              </a:rPr>
              <a:t>Under normal rainfall (1451mm), the heatmap restricts its focus only to the riverbanks.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Validation</a:t>
            </a:r>
            <a:r>
              <a:rPr lang="en-US" dirty="0">
                <a:latin typeface="Google Sans Text"/>
              </a:rPr>
              <a:t>: Not just guessing, it intelligently adapts its visual focus based on the actual environmental severity.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BBDB6-3CF7-D1E3-22B8-7C9376B9C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037" y="4197330"/>
            <a:ext cx="5359486" cy="1865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205E03-39D8-A856-9B7D-19229789FF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141" y="885263"/>
            <a:ext cx="2737977" cy="312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1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5" name="Rectangle 413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19634-86B7-D6F0-6471-7799491D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52947"/>
            <a:ext cx="8408028" cy="7950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Conclusion</a:t>
            </a:r>
          </a:p>
        </p:txBody>
      </p:sp>
      <p:grpSp>
        <p:nvGrpSpPr>
          <p:cNvPr id="4137" name="Group 4136">
            <a:extLst>
              <a:ext uri="{FF2B5EF4-FFF2-40B4-BE49-F238E27FC236}">
                <a16:creationId xmlns:a16="http://schemas.microsoft.com/office/drawing/2014/main" id="{97620302-BEE8-1447-8324-5F4178AA1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38" name="Freeform 37">
              <a:extLst>
                <a:ext uri="{FF2B5EF4-FFF2-40B4-BE49-F238E27FC236}">
                  <a16:creationId xmlns:a16="http://schemas.microsoft.com/office/drawing/2014/main" id="{075332F5-EA0C-8B40-ADC9-D024EBD77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39" name="Freeform 39">
              <a:extLst>
                <a:ext uri="{FF2B5EF4-FFF2-40B4-BE49-F238E27FC236}">
                  <a16:creationId xmlns:a16="http://schemas.microsoft.com/office/drawing/2014/main" id="{2619F114-DF39-F544-B487-5430D00E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0" name="Freeform 41">
              <a:extLst>
                <a:ext uri="{FF2B5EF4-FFF2-40B4-BE49-F238E27FC236}">
                  <a16:creationId xmlns:a16="http://schemas.microsoft.com/office/drawing/2014/main" id="{5CDF6368-32C4-A64F-8D2E-11DE400CD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1" name="Freeform 42">
              <a:extLst>
                <a:ext uri="{FF2B5EF4-FFF2-40B4-BE49-F238E27FC236}">
                  <a16:creationId xmlns:a16="http://schemas.microsoft.com/office/drawing/2014/main" id="{148F19D8-49E5-0945-BC17-56044D43D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43" name="Straight Connector 4142">
            <a:extLst>
              <a:ext uri="{FF2B5EF4-FFF2-40B4-BE49-F238E27FC236}">
                <a16:creationId xmlns:a16="http://schemas.microsoft.com/office/drawing/2014/main" id="{68C50EA3-7CF1-9542-A21D-5B3EBACC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84BE0E-C4AE-958A-1D07-3B39F9879779}"/>
              </a:ext>
            </a:extLst>
          </p:cNvPr>
          <p:cNvSpPr txBox="1"/>
          <p:nvPr/>
        </p:nvSpPr>
        <p:spPr>
          <a:xfrm>
            <a:off x="338871" y="1405382"/>
            <a:ext cx="59118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Google Sans Text"/>
              </a:rPr>
              <a:t>Summary of Contributions</a:t>
            </a:r>
          </a:p>
          <a:p>
            <a:pPr>
              <a:buNone/>
            </a:pPr>
            <a:endParaRPr lang="en-US" dirty="0"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SARA-Net Success:</a:t>
            </a:r>
            <a:r>
              <a:rPr lang="en-US" dirty="0">
                <a:latin typeface="Google Sans Text"/>
              </a:rPr>
              <a:t> We successfully fused radar imagery (SAR) with climate statistics to predict flood risks with </a:t>
            </a:r>
            <a:r>
              <a:rPr lang="en-US" b="1" dirty="0">
                <a:latin typeface="Google Sans Text"/>
              </a:rPr>
              <a:t>83.71% accuracy</a:t>
            </a:r>
            <a:r>
              <a:rPr lang="en-US" dirty="0">
                <a:latin typeface="Google Sans Text"/>
              </a:rPr>
              <a:t> and an </a:t>
            </a:r>
            <a:r>
              <a:rPr lang="en-US" b="1" dirty="0">
                <a:latin typeface="Google Sans Text"/>
              </a:rPr>
              <a:t>AUC of 0.9349</a:t>
            </a:r>
            <a:r>
              <a:rPr lang="en-US" dirty="0">
                <a:latin typeface="Google Sans Text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Proven Reliability:</a:t>
            </a:r>
            <a:r>
              <a:rPr lang="en-US" dirty="0">
                <a:latin typeface="Google Sans Text"/>
              </a:rPr>
              <a:t> The dual-stream approach significantly outperforms single-source methods, accurately flagging historical events like </a:t>
            </a:r>
            <a:r>
              <a:rPr lang="en-US" b="1" dirty="0">
                <a:latin typeface="Google Sans Text"/>
              </a:rPr>
              <a:t>Cyclone Amphan (2020)</a:t>
            </a:r>
            <a:r>
              <a:rPr lang="en-US" dirty="0">
                <a:latin typeface="Google Sans Text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Critical Insight:</a:t>
            </a:r>
            <a:r>
              <a:rPr lang="en-US" dirty="0">
                <a:latin typeface="Google Sans Text"/>
              </a:rPr>
              <a:t> </a:t>
            </a:r>
            <a:r>
              <a:rPr lang="en-US" b="1" dirty="0" err="1">
                <a:latin typeface="Google Sans Text"/>
              </a:rPr>
              <a:t>Satkhira</a:t>
            </a:r>
            <a:r>
              <a:rPr lang="en-US" dirty="0">
                <a:latin typeface="Google Sans Text"/>
              </a:rPr>
              <a:t> was identified as the highest-priority zone for immediate disaster management intervention.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F582FC-C8A3-A625-8775-BCE9093E3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593" y="1918900"/>
            <a:ext cx="5532528" cy="30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6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B7BB3-26BE-EFCC-2DB0-50F70884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5" name="Rectangle 4134">
            <a:extLst>
              <a:ext uri="{FF2B5EF4-FFF2-40B4-BE49-F238E27FC236}">
                <a16:creationId xmlns:a16="http://schemas.microsoft.com/office/drawing/2014/main" id="{AD40E5DE-41FC-AFD9-DE72-ADD9E3D77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3E63E-8BE1-57BF-3252-A95BB13F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436725"/>
            <a:ext cx="8408028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Future Directions</a:t>
            </a:r>
          </a:p>
        </p:txBody>
      </p:sp>
      <p:grpSp>
        <p:nvGrpSpPr>
          <p:cNvPr id="4137" name="Group 4136">
            <a:extLst>
              <a:ext uri="{FF2B5EF4-FFF2-40B4-BE49-F238E27FC236}">
                <a16:creationId xmlns:a16="http://schemas.microsoft.com/office/drawing/2014/main" id="{280C923E-B421-93D5-D79E-EE4E51931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38" name="Freeform 37">
              <a:extLst>
                <a:ext uri="{FF2B5EF4-FFF2-40B4-BE49-F238E27FC236}">
                  <a16:creationId xmlns:a16="http://schemas.microsoft.com/office/drawing/2014/main" id="{1C4E9F14-4DCD-BD6A-21F3-920E2C652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39" name="Freeform 39">
              <a:extLst>
                <a:ext uri="{FF2B5EF4-FFF2-40B4-BE49-F238E27FC236}">
                  <a16:creationId xmlns:a16="http://schemas.microsoft.com/office/drawing/2014/main" id="{404C51B5-5152-D37F-E2FB-12366F46F5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0" name="Freeform 41">
              <a:extLst>
                <a:ext uri="{FF2B5EF4-FFF2-40B4-BE49-F238E27FC236}">
                  <a16:creationId xmlns:a16="http://schemas.microsoft.com/office/drawing/2014/main" id="{3FB4E086-C968-17A2-3FF0-C76784AB0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41" name="Freeform 42">
              <a:extLst>
                <a:ext uri="{FF2B5EF4-FFF2-40B4-BE49-F238E27FC236}">
                  <a16:creationId xmlns:a16="http://schemas.microsoft.com/office/drawing/2014/main" id="{6B02304C-C1BD-DE7D-06BB-EF84D0D4A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43" name="Straight Connector 4142">
            <a:extLst>
              <a:ext uri="{FF2B5EF4-FFF2-40B4-BE49-F238E27FC236}">
                <a16:creationId xmlns:a16="http://schemas.microsoft.com/office/drawing/2014/main" id="{4F51D28F-2C09-87CD-44D8-A53CC745D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7CD35A-D0EE-70C7-70D5-94ADD06812AF}"/>
              </a:ext>
            </a:extLst>
          </p:cNvPr>
          <p:cNvSpPr txBox="1"/>
          <p:nvPr/>
        </p:nvSpPr>
        <p:spPr>
          <a:xfrm>
            <a:off x="442828" y="1854591"/>
            <a:ext cx="64922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Edge Deployment:</a:t>
            </a:r>
            <a:r>
              <a:rPr lang="en-US" dirty="0">
                <a:latin typeface="Google Sans Text"/>
              </a:rPr>
              <a:t> We aim to optimize the model to be lightweight, allowing it to run on standard computers or mobile devices for local rangers (overcoming current GPU requirements).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Real-Time Monitoring:</a:t>
            </a:r>
            <a:r>
              <a:rPr lang="en-US" dirty="0">
                <a:latin typeface="Google Sans Text"/>
              </a:rPr>
              <a:t> We plan to connect the system to live </a:t>
            </a:r>
            <a:r>
              <a:rPr lang="en-US" b="1" dirty="0">
                <a:latin typeface="Google Sans Text"/>
              </a:rPr>
              <a:t>Sentinel-1 satellite feeds</a:t>
            </a:r>
            <a:r>
              <a:rPr lang="en-US" dirty="0">
                <a:latin typeface="Google Sans Text"/>
              </a:rPr>
              <a:t> to transform this research into a live disaster warning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oogle Sans Text"/>
              </a:rPr>
              <a:t>Geographic Expansion:</a:t>
            </a:r>
            <a:r>
              <a:rPr lang="en-US" dirty="0">
                <a:latin typeface="Google Sans Text"/>
              </a:rPr>
              <a:t> We will test the model on other coastal regions (e.g., Chittagong) to improve its ability to generalize to new landscapes.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DF21239-D46F-CC82-A493-D1E78C155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039" y="2286015"/>
            <a:ext cx="4987551" cy="272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97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DB86DC-0ABD-0C09-0AD6-560061F6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7A322-B325-A353-7C74-0083552B2A12}"/>
              </a:ext>
            </a:extLst>
          </p:cNvPr>
          <p:cNvSpPr txBox="1"/>
          <p:nvPr/>
        </p:nvSpPr>
        <p:spPr>
          <a:xfrm>
            <a:off x="565150" y="4283239"/>
            <a:ext cx="4134537" cy="147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900"/>
              </a:spcBef>
            </a:pPr>
            <a:r>
              <a:rPr lang="en-US" sz="2000" dirty="0">
                <a:effectLst/>
              </a:rPr>
              <a:t>Questions?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2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4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5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raphic 8" descr="Smiling Face with No Fill">
            <a:extLst>
              <a:ext uri="{FF2B5EF4-FFF2-40B4-BE49-F238E27FC236}">
                <a16:creationId xmlns:a16="http://schemas.microsoft.com/office/drawing/2014/main" id="{78CEB3EC-CE2B-E084-353F-80776EEA4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7943" y="681645"/>
            <a:ext cx="5486059" cy="548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38121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3146</Words>
  <Application>Microsoft Office PowerPoint</Application>
  <PresentationFormat>Widescreen</PresentationFormat>
  <Paragraphs>207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Cavolini</vt:lpstr>
      <vt:lpstr>Google Sans Text</vt:lpstr>
      <vt:lpstr>Neue Haas Grotesk Text Pro</vt:lpstr>
      <vt:lpstr>PunchcardVTI</vt:lpstr>
      <vt:lpstr>SARA-Net: A Multimodal Deep Learning Framework for Flood Risk Assessment in the Sundarbans using SAR Imagery</vt:lpstr>
      <vt:lpstr>List of Contents</vt:lpstr>
      <vt:lpstr>Introduction</vt:lpstr>
      <vt:lpstr>Background</vt:lpstr>
      <vt:lpstr>Problem Statement</vt:lpstr>
      <vt:lpstr>Objective</vt:lpstr>
      <vt:lpstr>Related Work</vt:lpstr>
      <vt:lpstr>Methodology (Dataset &amp; Preprocessing)</vt:lpstr>
      <vt:lpstr>Methodology (Architecture)</vt:lpstr>
      <vt:lpstr>Results – Performance Matrix</vt:lpstr>
      <vt:lpstr>Results – Feature Importance</vt:lpstr>
      <vt:lpstr>Results – Trend Analysis (2014-2025)</vt:lpstr>
      <vt:lpstr>Results – Visual Verification (X-AI)</vt:lpstr>
      <vt:lpstr>Conclusion</vt:lpstr>
      <vt:lpstr>Future Directions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ASMAUL HOSSAIN AKASH</dc:creator>
  <cp:lastModifiedBy>ASMAUL HOSSAIN AKASH</cp:lastModifiedBy>
  <cp:revision>20</cp:revision>
  <dcterms:created xsi:type="dcterms:W3CDTF">2023-04-03T18:04:01Z</dcterms:created>
  <dcterms:modified xsi:type="dcterms:W3CDTF">2026-01-16T14:31:01Z</dcterms:modified>
</cp:coreProperties>
</file>